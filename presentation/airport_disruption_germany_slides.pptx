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embeddedFontLst>
    <p:embeddedFont>
      <p:font typeface="DM Sans" pitchFamily="34" charset="0"/>
      <p:regular r:id="rId21"/>
      <p:bold r:id="rId22"/>
      <p:italic r:id="rId23"/>
      <p:boldItalic r:id="rId24"/>
    </p:embeddedFont>
    <p:embeddedFont>
      <p:font typeface="Oswald" pitchFamily="34" charset="0"/>
      <p:regular r:id="rId25"/>
      <p:bold r:id="rId2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1" Type="http://schemas.openxmlformats.org/officeDocument/2006/relationships/font" Target="fonts/font1.fntdata"/><Relationship Id="rId22" Type="http://schemas.openxmlformats.org/officeDocument/2006/relationships/font" Target="fonts/font2.fntdata"/><Relationship Id="rId23" Type="http://schemas.openxmlformats.org/officeDocument/2006/relationships/font" Target="fonts/font3.fntdata"/><Relationship Id="rId24" Type="http://schemas.openxmlformats.org/officeDocument/2006/relationships/font" Target="fonts/font4.fntdata"/><Relationship Id="rId25" Type="http://schemas.openxmlformats.org/officeDocument/2006/relationships/font" Target="fonts/font5.fntdata"/><Relationship Id="rId26"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8F8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8520"/>
            <a:ext cx="10566400" cy="999728"/>
          </a:xfrm>
          <a:prstGeom prst="rect">
            <a:avLst/>
          </a:prstGeom>
          <a:noFill/>
          <a:ln/>
        </p:spPr>
        <p:txBody>
          <a:bodyPr wrap="square" lIns="0" tIns="0" rIns="0" bIns="0" rtlCol="0" anchor="t"/>
          <a:lstStyle>
            <a:lvl1pPr algn="l" indent="0" marL="0">
              <a:lnSpc>
                <a:spcPct val="115000"/>
              </a:lnSpc>
              <a:buNone/>
              <a:defRPr lang="en-US" sz="4400" dirty="0">
                <a:solidFill>
                  <a:srgbClr val="111111"/>
                </a:solidFill>
                <a:latin typeface="Oswald" pitchFamily="34" charset="0"/>
                <a:ea typeface="Oswald" pitchFamily="34" charset="-122"/>
                <a:cs typeface="Oswald"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483048"/>
            <a:ext cx="10566400" cy="3562152"/>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8F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78520"/>
            <a:ext cx="10566400" cy="999728"/>
          </a:xfrm>
          <a:prstGeom prst="rect">
            <a:avLst/>
          </a:prstGeom>
          <a:noFill/>
          <a:ln/>
        </p:spPr>
        <p:txBody>
          <a:bodyPr wrap="square" lIns="0" tIns="0" rIns="0" bIns="0" rtlCol="0" anchor="t"/>
          <a:lstStyle>
            <a:lvl1pPr algn="l" indent="0" marL="0">
              <a:lnSpc>
                <a:spcPct val="115000"/>
              </a:lnSpc>
              <a:buNone/>
              <a:defRPr lang="en-US" sz="4400" dirty="0">
                <a:solidFill>
                  <a:srgbClr val="111111"/>
                </a:solidFill>
                <a:latin typeface="Oswald" pitchFamily="34" charset="0"/>
                <a:ea typeface="Oswald" pitchFamily="34" charset="-122"/>
                <a:cs typeface="Oswald" pitchFamily="34" charset="-120"/>
              </a:defRPr>
            </a:lvl1pPr>
          </a:lstStyle>
          <a:p>
            <a:pPr algn="l" indent="0" marL="0">
              <a:lnSpc>
                <a:spcPct val="115000"/>
              </a:lnSpc>
              <a:buNone/>
            </a:pPr>
            <a:endParaRPr lang="en-US" sz="4400" dirty="0"/>
          </a:p>
        </p:txBody>
      </p:sp>
      <p:sp>
        <p:nvSpPr>
          <p:cNvPr id="3" name="Text Placeholder 2"/>
          <p:cNvSpPr/>
          <p:nvPr>
            <p:ph idx="101" type="body"/>
          </p:nvPr>
        </p:nvSpPr>
        <p:spPr>
          <a:xfrm>
            <a:off x="812800" y="2483048"/>
            <a:ext cx="10566400" cy="3562152"/>
          </a:xfrm>
          <a:prstGeom prst="rect">
            <a:avLst/>
          </a:prstGeom>
          <a:noFill/>
          <a:ln/>
        </p:spPr>
        <p:txBody>
          <a:bodyPr wrap="square" lIns="0" tIns="0" rIns="0" bIns="0" rtlCol="0" anchor="t"/>
          <a:lstStyle>
            <a:lvl1pPr algn="l" indent="0" marL="0">
              <a:lnSpc>
                <a:spcPct val="140000"/>
              </a:lnSpc>
              <a:buNone/>
              <a:defRPr lang="en-US" sz="1600" dirty="0">
                <a:solidFill>
                  <a:srgbClr val="111111"/>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 Id="rId5" Type="http://schemas.microsoft.com/office/2007/relationships/media" Target="../media/media1.mp4"/><Relationship Id="rId6" Type="http://schemas.openxmlformats.org/officeDocument/2006/relationships/video" Target="../media/media1.mp4"/></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p:bgPr>
    </p:bg>
    <p:spTree>
      <p:nvGrpSpPr>
        <p:cNvPr id="1" name=""/>
        <p:cNvGrpSpPr/>
        <p:nvPr/>
      </p:nvGrpSpPr>
      <p:grpSpPr>
        <a:xfrm>
          <a:off x="0" y="0"/>
          <a:ext cx="0" cy="0"/>
          <a:chOff x="0" y="0"/>
          <a:chExt cx="0" cy="0"/>
        </a:xfrm>
      </p:grpSpPr>
      <p:pic>
        <p:nvPicPr>
          <p:cNvPr id="2" name="Image 0" descr="View from a plane window: the wing over a city under grey clouds">    </p:cNvPr>
          <p:cNvPicPr>
            <a:picLocks noChangeAspect="1"/>
          </p:cNvPicPr>
          <p:nvPr/>
        </p:nvPicPr>
        <p:blipFill>
          <a:blip r:embed="rId1"/>
          <a:srcRect l="0" r="0" t="34180" b="34180"/>
          <a:stretch/>
        </p:blipFill>
        <p:spPr>
          <a:xfrm>
            <a:off x="0" y="0"/>
            <a:ext cx="12192000" cy="6858000"/>
          </a:xfrm>
          <a:prstGeom prst="rect">
            <a:avLst/>
          </a:prstGeom>
        </p:spPr>
      </p:pic>
      <p:sp>
        <p:nvSpPr>
          <p:cNvPr id="3" name="Shape 0"/>
          <p:cNvSpPr/>
          <p:nvPr/>
        </p:nvSpPr>
        <p:spPr>
          <a:xfrm>
            <a:off x="0" y="0"/>
            <a:ext cx="12192000" cy="6858000"/>
          </a:xfrm>
          <a:prstGeom prst="rect">
            <a:avLst/>
          </a:prstGeom>
          <a:gradFill rotWithShape="1">
            <a:gsLst>
              <a:gs pos="0">
                <a:srgbClr val="0A1226">
                  <a:alpha val="82000"/>
                </a:srgbClr>
              </a:gs>
              <a:gs pos="55000">
                <a:srgbClr val="0A1226">
                  <a:alpha val="60000"/>
                </a:srgbClr>
              </a:gs>
              <a:gs pos="100000">
                <a:srgbClr val="0A1226">
                  <a:alpha val="35000"/>
                </a:srgbClr>
              </a:gs>
            </a:gsLst>
            <a:lin ang="0" scaled="0"/>
          </a:gradFill>
          <a:ln/>
        </p:spPr>
      </p:sp>
      <p:pic>
        <p:nvPicPr>
          <p:cNvPr id="4" name="Image 1" descr="One of us pointing at the departure board in Terminal 1, Frankfurt Airport">    </p:cNvPr>
          <p:cNvPicPr>
            <a:picLocks noChangeAspect="1"/>
          </p:cNvPicPr>
          <p:nvPr/>
        </p:nvPicPr>
        <p:blipFill>
          <a:blip r:embed="rId2"/>
          <a:srcRect l="0" r="0" t="10033" b="10033"/>
          <a:stretch/>
        </p:blipFill>
        <p:spPr>
          <a:xfrm>
            <a:off x="7366000" y="0"/>
            <a:ext cx="4826000" cy="6858000"/>
          </a:xfrm>
          <a:prstGeom prst="rect">
            <a:avLst/>
          </a:prstGeom>
        </p:spPr>
      </p:pic>
      <p:sp>
        <p:nvSpPr>
          <p:cNvPr id="5" name="Text 1"/>
          <p:cNvSpPr/>
          <p:nvPr/>
        </p:nvSpPr>
        <p:spPr>
          <a:xfrm>
            <a:off x="7366000" y="6441480"/>
            <a:ext cx="4826000" cy="416520"/>
          </a:xfrm>
          <a:prstGeom prst="rect">
            <a:avLst/>
          </a:prstGeom>
          <a:solidFill>
            <a:srgbClr val="0A1226">
              <a:alpha val="80000"/>
            </a:srgbClr>
          </a:solidFill>
          <a:ln/>
        </p:spPr>
        <p:txBody>
          <a:bodyPr wrap="square" lIns="203200" tIns="101600" rIns="70612" bIns="76200" rtlCol="0" anchor="t">
            <a:normAutofit/>
          </a:bodyPr>
          <a:lstStyle/>
          <a:p>
            <a:pPr algn="l" indent="0" marL="0">
              <a:lnSpc>
                <a:spcPts val="1680"/>
              </a:lnSpc>
              <a:buNone/>
            </a:pPr>
            <a:r>
              <a:rPr lang="en-US" sz="1200" dirty="0">
                <a:solidFill>
                  <a:srgbClr val="BCD0FF"/>
                </a:solidFill>
                <a:latin typeface="DM Sans" pitchFamily="34" charset="0"/>
                <a:ea typeface="DM Sans" pitchFamily="34" charset="-122"/>
                <a:cs typeface="DM Sans" pitchFamily="34" charset="-120"/>
              </a:rPr>
              <a:t>Terminal 1, Frankfurt. Orange on the board means delayed.</a:t>
            </a:r>
            <a:endParaRPr lang="en-US" sz="1200" dirty="0"/>
          </a:p>
        </p:txBody>
      </p:sp>
      <p:sp>
        <p:nvSpPr>
          <p:cNvPr id="6" name="Text 2"/>
          <p:cNvSpPr/>
          <p:nvPr/>
        </p:nvSpPr>
        <p:spPr>
          <a:xfrm>
            <a:off x="812800" y="812800"/>
            <a:ext cx="591261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CD0FF"/>
                </a:solidFill>
                <a:latin typeface="DM Sans" pitchFamily="34" charset="0"/>
                <a:ea typeface="DM Sans" pitchFamily="34" charset="-122"/>
                <a:cs typeface="DM Sans" pitchFamily="34" charset="-120"/>
              </a:rPr>
              <a:t>INTRODUCTION TO DATA ANALYTICS · FRANKFURT SCHOOL</a:t>
            </a:r>
            <a:endParaRPr lang="en-US" sz="1200" dirty="0"/>
          </a:p>
        </p:txBody>
      </p:sp>
      <p:sp>
        <p:nvSpPr>
          <p:cNvPr id="7" name="Text 3"/>
          <p:cNvSpPr/>
          <p:nvPr>
            <p:ph type="title"/>
          </p:nvPr>
        </p:nvSpPr>
        <p:spPr>
          <a:xfrm>
            <a:off x="812800" y="1657995"/>
            <a:ext cx="5912612" cy="2311400"/>
          </a:xfrm>
          <a:prstGeom prst="rect">
            <a:avLst/>
          </a:prstGeom>
          <a:noFill/>
          <a:ln/>
        </p:spPr>
        <p:txBody>
          <a:bodyPr wrap="square" lIns="0" tIns="0" rIns="0" bIns="0" rtlCol="0" anchor="t">
            <a:normAutofit/>
          </a:bodyPr>
          <a:lstStyle/>
          <a:p>
            <a:pPr algn="l" indent="0" marL="0">
              <a:lnSpc>
                <a:spcPts val="6000"/>
              </a:lnSpc>
              <a:buNone/>
            </a:pPr>
            <a:r>
              <a:rPr lang="en-US" sz="6000" b="0" i="0" spc="50" kern="0" dirty="0">
                <a:solidFill>
                  <a:srgbClr val="FFFFFF"/>
                </a:solidFill>
                <a:latin typeface="Oswald" pitchFamily="34" charset="0"/>
                <a:ea typeface="Oswald" pitchFamily="34" charset="-122"/>
                <a:cs typeface="Oswald" pitchFamily="34" charset="-120"/>
              </a:rPr>
              <a:t>AIRPORT DISRUPTION IN GERMANY</a:t>
            </a:r>
            <a:endParaRPr lang="en-US" sz="6000" dirty="0"/>
          </a:p>
        </p:txBody>
      </p:sp>
      <p:pic>
        <p:nvPicPr>
          <p:cNvPr id="8" name="Image 2" descr="line">    </p:cNvPr>
          <p:cNvPicPr>
            <a:picLocks noChangeAspect="1"/>
          </p:cNvPicPr>
          <p:nvPr/>
        </p:nvPicPr>
        <p:blipFill>
          <a:blip r:embed="rId3"/>
          <a:srcRect l="0" r="0" t="0" b="0"/>
          <a:stretch/>
        </p:blipFill>
        <p:spPr>
          <a:xfrm>
            <a:off x="812800" y="4147195"/>
            <a:ext cx="1016000" cy="50800"/>
          </a:xfrm>
          <a:prstGeom prst="rect">
            <a:avLst/>
          </a:prstGeom>
        </p:spPr>
      </p:pic>
      <p:sp>
        <p:nvSpPr>
          <p:cNvPr id="9" name="Shape 4"/>
          <p:cNvSpPr/>
          <p:nvPr/>
        </p:nvSpPr>
        <p:spPr>
          <a:xfrm>
            <a:off x="812800" y="4833045"/>
            <a:ext cx="5740400" cy="0"/>
          </a:xfrm>
          <a:prstGeom prst="line">
            <a:avLst/>
          </a:prstGeom>
          <a:noFill/>
          <a:ln w="6350">
            <a:solidFill>
              <a:srgbClr val="2F54B8"/>
            </a:solidFill>
            <a:prstDash val="solid"/>
          </a:ln>
        </p:spPr>
      </p:sp>
      <p:sp>
        <p:nvSpPr>
          <p:cNvPr id="10" name="Text 5"/>
          <p:cNvSpPr/>
          <p:nvPr/>
        </p:nvSpPr>
        <p:spPr>
          <a:xfrm>
            <a:off x="812800" y="5039420"/>
            <a:ext cx="49707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D0FF"/>
                </a:solidFill>
                <a:latin typeface="DM Sans" pitchFamily="34" charset="0"/>
                <a:ea typeface="DM Sans" pitchFamily="34" charset="-122"/>
                <a:cs typeface="DM Sans" pitchFamily="34" charset="-120"/>
              </a:rPr>
              <a:t>Forecasting daily ATFM arrival delays at 12 German airports, 2014–2025</a:t>
            </a:r>
            <a:endParaRPr lang="en-US" sz="1600" dirty="0"/>
          </a:p>
        </p:txBody>
      </p:sp>
      <p:sp>
        <p:nvSpPr>
          <p:cNvPr id="11" name="Text 6"/>
          <p:cNvSpPr/>
          <p:nvPr/>
        </p:nvSpPr>
        <p:spPr>
          <a:xfrm>
            <a:off x="812800" y="5760740"/>
            <a:ext cx="591261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DM Sans" pitchFamily="34" charset="0"/>
                <a:ea typeface="DM Sans" pitchFamily="34" charset="-122"/>
                <a:cs typeface="DM Sans" pitchFamily="34" charset="-120"/>
              </a:rPr>
              <a:t>Siddharth Jain · Manasvi Japi · Rong Qin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8F6"/>
        </a:solidFill>
      </p:bgPr>
    </p:bg>
    <p:spTree>
      <p:nvGrpSpPr>
        <p:cNvPr id="1" name=""/>
        <p:cNvGrpSpPr/>
        <p:nvPr/>
      </p:nvGrpSpPr>
      <p:grpSpPr>
        <a:xfrm>
          <a:off x="0" y="0"/>
          <a:ext cx="0" cy="0"/>
          <a:chOff x="0" y="0"/>
          <a:chExt cx="0" cy="0"/>
        </a:xfrm>
      </p:grpSpPr>
      <p:pic>
        <p:nvPicPr>
          <p:cNvPr id="2" name="Image 0" descr="A thumbs down in front of the departure board at Frankfurt Airport">    </p:cNvPr>
          <p:cNvPicPr>
            <a:picLocks noChangeAspect="1"/>
          </p:cNvPicPr>
          <p:nvPr/>
        </p:nvPicPr>
        <p:blipFill>
          <a:blip r:embed="rId1"/>
          <a:srcRect l="0" r="0" t="41" b="41"/>
          <a:stretch/>
        </p:blipFill>
        <p:spPr>
          <a:xfrm>
            <a:off x="8331200" y="0"/>
            <a:ext cx="3860800" cy="6858000"/>
          </a:xfrm>
          <a:prstGeom prst="rect">
            <a:avLst/>
          </a:prstGeom>
        </p:spPr>
      </p:pic>
      <p:sp>
        <p:nvSpPr>
          <p:cNvPr id="3" name="Text 0"/>
          <p:cNvSpPr/>
          <p:nvPr/>
        </p:nvSpPr>
        <p:spPr>
          <a:xfrm>
            <a:off x="812800" y="812800"/>
            <a:ext cx="69067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DM Sans" pitchFamily="34" charset="0"/>
                <a:ea typeface="DM Sans" pitchFamily="34" charset="-122"/>
                <a:cs typeface="DM Sans" pitchFamily="34" charset="-120"/>
              </a:rPr>
              <a:t>BEFORE WE TAKE OFF</a:t>
            </a:r>
            <a:endParaRPr lang="en-US" sz="1200" dirty="0"/>
          </a:p>
        </p:txBody>
      </p:sp>
      <p:sp>
        <p:nvSpPr>
          <p:cNvPr id="4" name="Text 1"/>
          <p:cNvSpPr/>
          <p:nvPr>
            <p:ph type="title"/>
          </p:nvPr>
        </p:nvSpPr>
        <p:spPr>
          <a:xfrm>
            <a:off x="812800" y="1178520"/>
            <a:ext cx="6906768" cy="1143000"/>
          </a:xfrm>
          <a:prstGeom prst="rect">
            <a:avLst/>
          </a:prstGeom>
          <a:noFill/>
          <a:ln/>
        </p:spPr>
        <p:txBody>
          <a:bodyPr wrap="square" lIns="0" tIns="0" rIns="0" bIns="0" rtlCol="0" anchor="t">
            <a:normAutofit/>
          </a:bodyPr>
          <a:lstStyle/>
          <a:p>
            <a:pPr algn="l" indent="0" marL="0">
              <a:lnSpc>
                <a:spcPts val="4400"/>
              </a:lnSpc>
              <a:buNone/>
            </a:pPr>
            <a:r>
              <a:rPr lang="en-US" sz="4400" b="0" i="0" spc="50" kern="0" dirty="0">
                <a:solidFill>
                  <a:srgbClr val="111111"/>
                </a:solidFill>
                <a:latin typeface="Oswald" pitchFamily="34" charset="0"/>
                <a:ea typeface="Oswald" pitchFamily="34" charset="-122"/>
                <a:cs typeface="Oswald" pitchFamily="34" charset="-120"/>
              </a:rPr>
              <a:t>YOUR FLIGHT IS LATE AGAIN. WHO DO YOU BLAME?</a:t>
            </a:r>
            <a:endParaRPr lang="en-US" sz="4400" dirty="0"/>
          </a:p>
        </p:txBody>
      </p:sp>
      <p:pic>
        <p:nvPicPr>
          <p:cNvPr id="5" name="Image 1" descr="line">    </p:cNvPr>
          <p:cNvPicPr>
            <a:picLocks noChangeAspect="1"/>
          </p:cNvPicPr>
          <p:nvPr/>
        </p:nvPicPr>
        <p:blipFill>
          <a:blip r:embed="rId2"/>
          <a:srcRect l="0" r="0" t="0" b="0"/>
          <a:stretch/>
        </p:blipFill>
        <p:spPr>
          <a:xfrm>
            <a:off x="812800" y="2448520"/>
            <a:ext cx="1016000" cy="50800"/>
          </a:xfrm>
          <a:prstGeom prst="rect">
            <a:avLst/>
          </a:prstGeom>
        </p:spPr>
      </p:pic>
      <p:sp>
        <p:nvSpPr>
          <p:cNvPr id="6" name="Shape 2"/>
          <p:cNvSpPr/>
          <p:nvPr/>
        </p:nvSpPr>
        <p:spPr>
          <a:xfrm>
            <a:off x="812800" y="2791520"/>
            <a:ext cx="6705600" cy="0"/>
          </a:xfrm>
          <a:prstGeom prst="line">
            <a:avLst/>
          </a:prstGeom>
          <a:noFill/>
          <a:ln w="6350">
            <a:solidFill>
              <a:srgbClr val="D9D8D2"/>
            </a:solidFill>
            <a:prstDash val="solid"/>
          </a:ln>
        </p:spPr>
      </p:sp>
      <p:sp>
        <p:nvSpPr>
          <p:cNvPr id="7" name="Text 3"/>
          <p:cNvSpPr/>
          <p:nvPr/>
        </p:nvSpPr>
        <p:spPr>
          <a:xfrm>
            <a:off x="812800" y="2921695"/>
            <a:ext cx="45720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4FD8"/>
                </a:solidFill>
                <a:latin typeface="Oswald" pitchFamily="34" charset="0"/>
                <a:ea typeface="Oswald" pitchFamily="34" charset="-122"/>
                <a:cs typeface="Oswald" pitchFamily="34" charset="-120"/>
              </a:rPr>
              <a:t>A</a:t>
            </a:r>
            <a:endParaRPr lang="en-US" sz="2400" dirty="0"/>
          </a:p>
        </p:txBody>
      </p:sp>
      <p:sp>
        <p:nvSpPr>
          <p:cNvPr id="8" name="Text 4"/>
          <p:cNvSpPr/>
          <p:nvPr/>
        </p:nvSpPr>
        <p:spPr>
          <a:xfrm>
            <a:off x="1422400" y="3061395"/>
            <a:ext cx="139404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DM Sans" pitchFamily="34" charset="0"/>
                <a:ea typeface="DM Sans" pitchFamily="34" charset="-122"/>
                <a:cs typeface="DM Sans" pitchFamily="34" charset="-120"/>
              </a:rPr>
              <a:t>The weather</a:t>
            </a:r>
            <a:endParaRPr lang="en-US" sz="1600" dirty="0"/>
          </a:p>
        </p:txBody>
      </p:sp>
      <p:sp>
        <p:nvSpPr>
          <p:cNvPr id="9" name="Shape 5"/>
          <p:cNvSpPr/>
          <p:nvPr/>
        </p:nvSpPr>
        <p:spPr>
          <a:xfrm>
            <a:off x="812800" y="3478560"/>
            <a:ext cx="6705600" cy="0"/>
          </a:xfrm>
          <a:prstGeom prst="line">
            <a:avLst/>
          </a:prstGeom>
          <a:noFill/>
          <a:ln w="6350">
            <a:solidFill>
              <a:srgbClr val="D9D8D2"/>
            </a:solidFill>
            <a:prstDash val="solid"/>
          </a:ln>
        </p:spPr>
      </p:sp>
      <p:sp>
        <p:nvSpPr>
          <p:cNvPr id="10" name="Text 6"/>
          <p:cNvSpPr/>
          <p:nvPr/>
        </p:nvSpPr>
        <p:spPr>
          <a:xfrm>
            <a:off x="812800" y="3608735"/>
            <a:ext cx="45720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4FD8"/>
                </a:solidFill>
                <a:latin typeface="Oswald" pitchFamily="34" charset="0"/>
                <a:ea typeface="Oswald" pitchFamily="34" charset="-122"/>
                <a:cs typeface="Oswald" pitchFamily="34" charset="-120"/>
              </a:rPr>
              <a:t>B</a:t>
            </a:r>
            <a:endParaRPr lang="en-US" sz="2400" dirty="0"/>
          </a:p>
        </p:txBody>
      </p:sp>
      <p:sp>
        <p:nvSpPr>
          <p:cNvPr id="11" name="Text 7"/>
          <p:cNvSpPr/>
          <p:nvPr/>
        </p:nvSpPr>
        <p:spPr>
          <a:xfrm>
            <a:off x="1422400" y="3748435"/>
            <a:ext cx="192268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DM Sans" pitchFamily="34" charset="0"/>
                <a:ea typeface="DM Sans" pitchFamily="34" charset="-122"/>
                <a:cs typeface="DM Sans" pitchFamily="34" charset="-120"/>
              </a:rPr>
              <a:t>Air traffic control</a:t>
            </a:r>
            <a:endParaRPr lang="en-US" sz="1600" dirty="0"/>
          </a:p>
        </p:txBody>
      </p:sp>
      <p:sp>
        <p:nvSpPr>
          <p:cNvPr id="12" name="Shape 8"/>
          <p:cNvSpPr/>
          <p:nvPr/>
        </p:nvSpPr>
        <p:spPr>
          <a:xfrm>
            <a:off x="812800" y="4165600"/>
            <a:ext cx="6705600" cy="0"/>
          </a:xfrm>
          <a:prstGeom prst="line">
            <a:avLst/>
          </a:prstGeom>
          <a:noFill/>
          <a:ln w="6350">
            <a:solidFill>
              <a:srgbClr val="D9D8D2"/>
            </a:solidFill>
            <a:prstDash val="solid"/>
          </a:ln>
        </p:spPr>
      </p:sp>
      <p:sp>
        <p:nvSpPr>
          <p:cNvPr id="13" name="Text 9"/>
          <p:cNvSpPr/>
          <p:nvPr/>
        </p:nvSpPr>
        <p:spPr>
          <a:xfrm>
            <a:off x="812800" y="4295775"/>
            <a:ext cx="45720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4FD8"/>
                </a:solidFill>
                <a:latin typeface="Oswald" pitchFamily="34" charset="0"/>
                <a:ea typeface="Oswald" pitchFamily="34" charset="-122"/>
                <a:cs typeface="Oswald" pitchFamily="34" charset="-120"/>
              </a:rPr>
              <a:t>C</a:t>
            </a:r>
            <a:endParaRPr lang="en-US" sz="2400" dirty="0"/>
          </a:p>
        </p:txBody>
      </p:sp>
      <p:sp>
        <p:nvSpPr>
          <p:cNvPr id="14" name="Text 10"/>
          <p:cNvSpPr/>
          <p:nvPr/>
        </p:nvSpPr>
        <p:spPr>
          <a:xfrm>
            <a:off x="1422400" y="4435475"/>
            <a:ext cx="1862018"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DM Sans" pitchFamily="34" charset="0"/>
                <a:ea typeface="DM Sans" pitchFamily="34" charset="-122"/>
                <a:cs typeface="DM Sans" pitchFamily="34" charset="-120"/>
              </a:rPr>
              <a:t>The airport itself</a:t>
            </a:r>
            <a:endParaRPr lang="en-US" sz="1600" dirty="0"/>
          </a:p>
        </p:txBody>
      </p:sp>
      <p:sp>
        <p:nvSpPr>
          <p:cNvPr id="15" name="Shape 11"/>
          <p:cNvSpPr/>
          <p:nvPr/>
        </p:nvSpPr>
        <p:spPr>
          <a:xfrm>
            <a:off x="812800" y="4852640"/>
            <a:ext cx="6705600" cy="0"/>
          </a:xfrm>
          <a:prstGeom prst="line">
            <a:avLst/>
          </a:prstGeom>
          <a:noFill/>
          <a:ln w="6350">
            <a:solidFill>
              <a:srgbClr val="D9D8D2"/>
            </a:solidFill>
            <a:prstDash val="solid"/>
          </a:ln>
        </p:spPr>
      </p:sp>
      <p:sp>
        <p:nvSpPr>
          <p:cNvPr id="16" name="Shape 12"/>
          <p:cNvSpPr/>
          <p:nvPr/>
        </p:nvSpPr>
        <p:spPr>
          <a:xfrm>
            <a:off x="812800" y="5539680"/>
            <a:ext cx="6705600" cy="0"/>
          </a:xfrm>
          <a:prstGeom prst="line">
            <a:avLst/>
          </a:prstGeom>
          <a:noFill/>
          <a:ln w="6350">
            <a:solidFill>
              <a:srgbClr val="D9D8D2"/>
            </a:solidFill>
            <a:prstDash val="solid"/>
          </a:ln>
        </p:spPr>
      </p:sp>
      <p:sp>
        <p:nvSpPr>
          <p:cNvPr id="17" name="Text 13"/>
          <p:cNvSpPr/>
          <p:nvPr/>
        </p:nvSpPr>
        <p:spPr>
          <a:xfrm>
            <a:off x="812800" y="4982815"/>
            <a:ext cx="45720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4FD8"/>
                </a:solidFill>
                <a:latin typeface="Oswald" pitchFamily="34" charset="0"/>
                <a:ea typeface="Oswald" pitchFamily="34" charset="-122"/>
                <a:cs typeface="Oswald" pitchFamily="34" charset="-120"/>
              </a:rPr>
              <a:t>D</a:t>
            </a:r>
            <a:endParaRPr lang="en-US" sz="2400" dirty="0"/>
          </a:p>
        </p:txBody>
      </p:sp>
      <p:sp>
        <p:nvSpPr>
          <p:cNvPr id="18" name="Text 14"/>
          <p:cNvSpPr/>
          <p:nvPr/>
        </p:nvSpPr>
        <p:spPr>
          <a:xfrm>
            <a:off x="1422400" y="5122515"/>
            <a:ext cx="1921728" cy="30986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111111"/>
                </a:solidFill>
                <a:latin typeface="DM Sans" pitchFamily="34" charset="0"/>
                <a:ea typeface="DM Sans" pitchFamily="34" charset="-122"/>
                <a:cs typeface="DM Sans" pitchFamily="34" charset="-120"/>
              </a:rPr>
              <a:t>Ich weiß es nicht</a:t>
            </a:r>
            <a:endParaRPr lang="en-US" sz="1600" dirty="0"/>
          </a:p>
        </p:txBody>
      </p:sp>
      <p:sp>
        <p:nvSpPr>
          <p:cNvPr id="19" name="Text 15"/>
          <p:cNvSpPr/>
          <p:nvPr/>
        </p:nvSpPr>
        <p:spPr>
          <a:xfrm>
            <a:off x="812800" y="5831880"/>
            <a:ext cx="690676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Keep your answer. We check it on slide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8F6"/>
        </a:solidFill>
      </p:bgPr>
    </p:bg>
    <p:spTree>
      <p:nvGrpSpPr>
        <p:cNvPr id="1" name=""/>
        <p:cNvGrpSpPr/>
        <p:nvPr/>
      </p:nvGrpSpPr>
      <p:grpSpPr>
        <a:xfrm>
          <a:off x="0" y="0"/>
          <a:ext cx="0" cy="0"/>
          <a:chOff x="0" y="0"/>
          <a:chExt cx="0" cy="0"/>
        </a:xfrm>
      </p:grpSpPr>
      <p:pic>
        <p:nvPicPr>
          <p:cNvPr id="17" name="Story video" descr="Video: us at the Frankfurt departure board, where orange text marks delayed flights">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1"/>
          <a:stretch>
            <a:fillRect/>
          </a:stretch>
        </p:blipFill>
        <p:spPr>
          <a:xfrm>
            <a:off x="8331200" y="0"/>
            <a:ext cx="3860800" cy="6858000"/>
          </a:xfrm>
          <a:prstGeom prst="rect">
            <a:avLst/>
          </a:prstGeom>
        </p:spPr>
      </p:pic>
      <p:sp>
        <p:nvSpPr>
          <p:cNvPr id="3" name="Text 0"/>
          <p:cNvSpPr/>
          <p:nvPr/>
        </p:nvSpPr>
        <p:spPr>
          <a:xfrm>
            <a:off x="812800" y="812800"/>
            <a:ext cx="69067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DM Sans" pitchFamily="34" charset="0"/>
                <a:ea typeface="DM Sans" pitchFamily="34" charset="-122"/>
                <a:cs typeface="DM Sans" pitchFamily="34" charset="-120"/>
              </a:rPr>
              <a:t>OUR STORY · FRANKFURT AM MAIN</a:t>
            </a:r>
            <a:endParaRPr lang="en-US" sz="1200" dirty="0"/>
          </a:p>
        </p:txBody>
      </p:sp>
      <p:sp>
        <p:nvSpPr>
          <p:cNvPr id="4" name="Text 1"/>
          <p:cNvSpPr/>
          <p:nvPr>
            <p:ph type="title"/>
          </p:nvPr>
        </p:nvSpPr>
        <p:spPr>
          <a:xfrm>
            <a:off x="812800" y="1178520"/>
            <a:ext cx="6906768" cy="1143000"/>
          </a:xfrm>
          <a:prstGeom prst="rect">
            <a:avLst/>
          </a:prstGeom>
          <a:noFill/>
          <a:ln/>
        </p:spPr>
        <p:txBody>
          <a:bodyPr wrap="square" lIns="0" tIns="0" rIns="0" bIns="0" rtlCol="0" anchor="t">
            <a:normAutofit/>
          </a:bodyPr>
          <a:lstStyle/>
          <a:p>
            <a:pPr algn="l" indent="0" marL="0">
              <a:lnSpc>
                <a:spcPts val="4400"/>
              </a:lnSpc>
              <a:buNone/>
            </a:pPr>
            <a:r>
              <a:rPr lang="en-US" sz="4400" b="0" i="0" spc="50" kern="0" dirty="0">
                <a:solidFill>
                  <a:srgbClr val="111111"/>
                </a:solidFill>
                <a:latin typeface="Oswald" pitchFamily="34" charset="0"/>
                <a:ea typeface="Oswald" pitchFamily="34" charset="-122"/>
                <a:cs typeface="Oswald" pitchFamily="34" charset="-120"/>
              </a:rPr>
              <a:t>WE LEARNED „VERSPÄTUNG“ BEFORE „DANKE“</a:t>
            </a:r>
            <a:endParaRPr lang="en-US" sz="4400" dirty="0"/>
          </a:p>
        </p:txBody>
      </p:sp>
      <p:pic>
        <p:nvPicPr>
          <p:cNvPr id="5" name="Image 1" descr="line">    </p:cNvPr>
          <p:cNvPicPr>
            <a:picLocks noChangeAspect="1"/>
          </p:cNvPicPr>
          <p:nvPr/>
        </p:nvPicPr>
        <p:blipFill>
          <a:blip r:embed="rId2"/>
          <a:srcRect l="0" r="0" t="0" b="0"/>
          <a:stretch/>
        </p:blipFill>
        <p:spPr>
          <a:xfrm>
            <a:off x="812800" y="2448520"/>
            <a:ext cx="1016000" cy="50800"/>
          </a:xfrm>
          <a:prstGeom prst="rect">
            <a:avLst/>
          </a:prstGeom>
        </p:spPr>
      </p:pic>
      <p:sp>
        <p:nvSpPr>
          <p:cNvPr id="6" name="Shape 2"/>
          <p:cNvSpPr/>
          <p:nvPr/>
        </p:nvSpPr>
        <p:spPr>
          <a:xfrm>
            <a:off x="812800" y="2809925"/>
            <a:ext cx="6705600" cy="0"/>
          </a:xfrm>
          <a:prstGeom prst="line">
            <a:avLst/>
          </a:prstGeom>
          <a:noFill/>
          <a:ln w="6350">
            <a:solidFill>
              <a:srgbClr val="D9D8D2"/>
            </a:solidFill>
            <a:prstDash val="solid"/>
          </a:ln>
        </p:spPr>
      </p:sp>
      <p:sp>
        <p:nvSpPr>
          <p:cNvPr id="7" name="Text 3"/>
          <p:cNvSpPr/>
          <p:nvPr/>
        </p:nvSpPr>
        <p:spPr>
          <a:xfrm>
            <a:off x="812800" y="2965500"/>
            <a:ext cx="457200" cy="59432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F4FD8"/>
                </a:solidFill>
                <a:latin typeface="Oswald" pitchFamily="34" charset="0"/>
                <a:ea typeface="Oswald" pitchFamily="34" charset="-122"/>
                <a:cs typeface="Oswald" pitchFamily="34" charset="-120"/>
              </a:rPr>
              <a:t>1</a:t>
            </a:r>
            <a:endParaRPr lang="en-US" sz="2400" dirty="0"/>
          </a:p>
        </p:txBody>
      </p:sp>
      <p:sp>
        <p:nvSpPr>
          <p:cNvPr id="8" name="Text 4"/>
          <p:cNvSpPr/>
          <p:nvPr/>
        </p:nvSpPr>
        <p:spPr>
          <a:xfrm>
            <a:off x="1422400" y="2965500"/>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DM Sans" pitchFamily="34" charset="0"/>
                <a:ea typeface="DM Sans" pitchFamily="34" charset="-122"/>
                <a:cs typeface="DM Sans" pitchFamily="34" charset="-120"/>
              </a:rPr>
              <a:t>We arrived at FRA as new international students. The board was orange.</a:t>
            </a:r>
            <a:endParaRPr lang="en-US" sz="1600" dirty="0"/>
          </a:p>
        </p:txBody>
      </p:sp>
      <p:sp>
        <p:nvSpPr>
          <p:cNvPr id="9" name="Shape 5"/>
          <p:cNvSpPr/>
          <p:nvPr/>
        </p:nvSpPr>
        <p:spPr>
          <a:xfrm>
            <a:off x="812800" y="3689995"/>
            <a:ext cx="6705600" cy="0"/>
          </a:xfrm>
          <a:prstGeom prst="line">
            <a:avLst/>
          </a:prstGeom>
          <a:noFill/>
          <a:ln w="6350">
            <a:solidFill>
              <a:srgbClr val="D9D8D2"/>
            </a:solidFill>
            <a:prstDash val="solid"/>
          </a:ln>
        </p:spPr>
      </p:sp>
      <p:sp>
        <p:nvSpPr>
          <p:cNvPr id="10" name="Text 6"/>
          <p:cNvSpPr/>
          <p:nvPr/>
        </p:nvSpPr>
        <p:spPr>
          <a:xfrm>
            <a:off x="812800" y="3845570"/>
            <a:ext cx="457200" cy="59432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F4FD8"/>
                </a:solidFill>
                <a:latin typeface="Oswald" pitchFamily="34" charset="0"/>
                <a:ea typeface="Oswald" pitchFamily="34" charset="-122"/>
                <a:cs typeface="Oswald" pitchFamily="34" charset="-120"/>
              </a:rPr>
              <a:t>2</a:t>
            </a:r>
            <a:endParaRPr lang="en-US" sz="2400" dirty="0"/>
          </a:p>
        </p:txBody>
      </p:sp>
      <p:sp>
        <p:nvSpPr>
          <p:cNvPr id="11" name="Text 7"/>
          <p:cNvSpPr/>
          <p:nvPr/>
        </p:nvSpPr>
        <p:spPr>
          <a:xfrm>
            <a:off x="1422400" y="3845570"/>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DM Sans" pitchFamily="34" charset="0"/>
                <a:ea typeface="DM Sans" pitchFamily="34" charset="-122"/>
                <a:cs typeface="DM Sans" pitchFamily="34" charset="-120"/>
              </a:rPr>
              <a:t>Long waits, missed connections, and the same announcement every time.</a:t>
            </a:r>
            <a:endParaRPr lang="en-US" sz="1600" dirty="0"/>
          </a:p>
        </p:txBody>
      </p:sp>
      <p:sp>
        <p:nvSpPr>
          <p:cNvPr id="12" name="Shape 8"/>
          <p:cNvSpPr/>
          <p:nvPr/>
        </p:nvSpPr>
        <p:spPr>
          <a:xfrm>
            <a:off x="812800" y="4570065"/>
            <a:ext cx="6705600" cy="0"/>
          </a:xfrm>
          <a:prstGeom prst="line">
            <a:avLst/>
          </a:prstGeom>
          <a:noFill/>
          <a:ln w="6350">
            <a:solidFill>
              <a:srgbClr val="D9D8D2"/>
            </a:solidFill>
            <a:prstDash val="solid"/>
          </a:ln>
        </p:spPr>
      </p:sp>
      <p:sp>
        <p:nvSpPr>
          <p:cNvPr id="13" name="Shape 9"/>
          <p:cNvSpPr/>
          <p:nvPr/>
        </p:nvSpPr>
        <p:spPr>
          <a:xfrm>
            <a:off x="812800" y="5450136"/>
            <a:ext cx="6705600" cy="0"/>
          </a:xfrm>
          <a:prstGeom prst="line">
            <a:avLst/>
          </a:prstGeom>
          <a:noFill/>
          <a:ln w="6350">
            <a:solidFill>
              <a:srgbClr val="D9D8D2"/>
            </a:solidFill>
            <a:prstDash val="solid"/>
          </a:ln>
        </p:spPr>
      </p:sp>
      <p:sp>
        <p:nvSpPr>
          <p:cNvPr id="14" name="Text 10"/>
          <p:cNvSpPr/>
          <p:nvPr/>
        </p:nvSpPr>
        <p:spPr>
          <a:xfrm>
            <a:off x="812800" y="4725640"/>
            <a:ext cx="457200" cy="59432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F4FD8"/>
                </a:solidFill>
                <a:latin typeface="Oswald" pitchFamily="34" charset="0"/>
                <a:ea typeface="Oswald" pitchFamily="34" charset="-122"/>
                <a:cs typeface="Oswald" pitchFamily="34" charset="-120"/>
              </a:rPr>
              <a:t>3</a:t>
            </a:r>
            <a:endParaRPr lang="en-US" sz="2400" dirty="0"/>
          </a:p>
        </p:txBody>
      </p:sp>
      <p:sp>
        <p:nvSpPr>
          <p:cNvPr id="15" name="Text 11"/>
          <p:cNvSpPr/>
          <p:nvPr/>
        </p:nvSpPr>
        <p:spPr>
          <a:xfrm>
            <a:off x="1422400" y="4725640"/>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DM Sans" pitchFamily="34" charset="0"/>
                <a:ea typeface="DM Sans" pitchFamily="34" charset="-122"/>
                <a:cs typeface="DM Sans" pitchFamily="34" charset="-120"/>
              </a:rPr>
              <a:t>As data science students at Frankfurt School, we asked: could the data have seen it coming?</a:t>
            </a:r>
            <a:endParaRPr lang="en-US" sz="1600" dirty="0"/>
          </a:p>
        </p:txBody>
      </p:sp>
      <p:sp>
        <p:nvSpPr>
          <p:cNvPr id="16" name="Text 12"/>
          <p:cNvSpPr/>
          <p:nvPr/>
        </p:nvSpPr>
        <p:spPr>
          <a:xfrm>
            <a:off x="812800" y="5760740"/>
            <a:ext cx="6906768" cy="30986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5F5E5A"/>
                </a:solidFill>
                <a:latin typeface="DM Sans" pitchFamily="34" charset="0"/>
                <a:ea typeface="DM Sans" pitchFamily="34" charset="-122"/>
                <a:cs typeface="DM Sans" pitchFamily="34" charset="-120"/>
              </a:rPr>
              <a:t>„Wir bitten um Ihr Verständnis.“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500"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7"/>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8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DM Sans" pitchFamily="34" charset="0"/>
                <a:ea typeface="DM Sans" pitchFamily="34" charset="-122"/>
                <a:cs typeface="DM Sans" pitchFamily="34" charset="-120"/>
              </a:rPr>
              <a:t>ZEIT IST GELD · THE BUSINESS CASE</a:t>
            </a:r>
            <a:endParaRPr lang="en-US" sz="1200" dirty="0"/>
          </a:p>
        </p:txBody>
      </p:sp>
      <p:sp>
        <p:nvSpPr>
          <p:cNvPr id="3" name="Text 1"/>
          <p:cNvSpPr/>
          <p:nvPr/>
        </p:nvSpPr>
        <p:spPr>
          <a:xfrm>
            <a:off x="812800" y="1887885"/>
            <a:ext cx="10883392" cy="1231900"/>
          </a:xfrm>
          <a:prstGeom prst="rect">
            <a:avLst/>
          </a:prstGeom>
          <a:noFill/>
          <a:ln/>
        </p:spPr>
        <p:txBody>
          <a:bodyPr wrap="square" lIns="0" tIns="0" rIns="0" bIns="0" rtlCol="0" anchor="t">
            <a:normAutofit/>
          </a:bodyPr>
          <a:lstStyle/>
          <a:p>
            <a:pPr algn="l" indent="0" marL="0">
              <a:lnSpc>
                <a:spcPts val="9500"/>
              </a:lnSpc>
              <a:buNone/>
            </a:pPr>
            <a:r>
              <a:rPr lang="en-US" sz="10000" spc="50" kern="0" dirty="0">
                <a:solidFill>
                  <a:srgbClr val="1F4FD8"/>
                </a:solidFill>
                <a:latin typeface="Oswald" pitchFamily="34" charset="0"/>
                <a:ea typeface="Oswald" pitchFamily="34" charset="-122"/>
                <a:cs typeface="Oswald" pitchFamily="34" charset="-120"/>
              </a:rPr>
              <a:t>7.8 YEARS</a:t>
            </a:r>
            <a:endParaRPr lang="en-US" sz="10000" dirty="0"/>
          </a:p>
        </p:txBody>
      </p:sp>
      <p:pic>
        <p:nvPicPr>
          <p:cNvPr id="4" name="Image 0" descr="line">    </p:cNvPr>
          <p:cNvPicPr>
            <a:picLocks noChangeAspect="1"/>
          </p:cNvPicPr>
          <p:nvPr/>
        </p:nvPicPr>
        <p:blipFill>
          <a:blip r:embed="rId1"/>
          <a:srcRect l="0" r="0" t="0" b="0"/>
          <a:stretch/>
        </p:blipFill>
        <p:spPr>
          <a:xfrm>
            <a:off x="812800" y="3297585"/>
            <a:ext cx="1016000" cy="50800"/>
          </a:xfrm>
          <a:prstGeom prst="rect">
            <a:avLst/>
          </a:prstGeom>
        </p:spPr>
      </p:pic>
      <p:sp>
        <p:nvSpPr>
          <p:cNvPr id="5" name="Text 2"/>
          <p:cNvSpPr/>
          <p:nvPr/>
        </p:nvSpPr>
        <p:spPr>
          <a:xfrm>
            <a:off x="812800" y="3551585"/>
            <a:ext cx="654050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DM Sans" pitchFamily="34" charset="0"/>
                <a:ea typeface="DM Sans" pitchFamily="34" charset="-122"/>
                <a:cs typeface="DM Sans" pitchFamily="34" charset="-120"/>
              </a:rPr>
              <a:t>of waiting. That is how much ATFM arrival delay piled up at just 12 German airports between 2014 and 2025. Every minute of it idles crews, gates and passengers.</a:t>
            </a:r>
            <a:endParaRPr lang="en-US" sz="1600" dirty="0"/>
          </a:p>
        </p:txBody>
      </p:sp>
      <p:sp>
        <p:nvSpPr>
          <p:cNvPr id="6" name="Shape 3"/>
          <p:cNvSpPr/>
          <p:nvPr/>
        </p:nvSpPr>
        <p:spPr>
          <a:xfrm>
            <a:off x="812800" y="5269905"/>
            <a:ext cx="10566400" cy="0"/>
          </a:xfrm>
          <a:prstGeom prst="line">
            <a:avLst/>
          </a:prstGeom>
          <a:noFill/>
          <a:ln w="6350">
            <a:solidFill>
              <a:srgbClr val="D9D8D2"/>
            </a:solidFill>
            <a:prstDash val="solid"/>
          </a:ln>
        </p:spPr>
      </p:sp>
      <p:sp>
        <p:nvSpPr>
          <p:cNvPr id="7" name="Text 4"/>
          <p:cNvSpPr/>
          <p:nvPr/>
        </p:nvSpPr>
        <p:spPr>
          <a:xfrm>
            <a:off x="812800" y="5476280"/>
            <a:ext cx="3204845"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11111"/>
                </a:solidFill>
                <a:latin typeface="Oswald" pitchFamily="34" charset="0"/>
                <a:ea typeface="Oswald" pitchFamily="34" charset="-122"/>
                <a:cs typeface="Oswald" pitchFamily="34" charset="-120"/>
              </a:rPr>
              <a:t>4.09 million</a:t>
            </a:r>
            <a:endParaRPr lang="en-US" sz="2400" dirty="0"/>
          </a:p>
        </p:txBody>
      </p:sp>
      <p:sp>
        <p:nvSpPr>
          <p:cNvPr id="8" name="Text 5"/>
          <p:cNvSpPr/>
          <p:nvPr/>
        </p:nvSpPr>
        <p:spPr>
          <a:xfrm>
            <a:off x="812800" y="583188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delay minutes in total</a:t>
            </a:r>
            <a:endParaRPr lang="en-US" sz="1200" dirty="0"/>
          </a:p>
        </p:txBody>
      </p:sp>
      <p:sp>
        <p:nvSpPr>
          <p:cNvPr id="9" name="Shape 6"/>
          <p:cNvSpPr/>
          <p:nvPr/>
        </p:nvSpPr>
        <p:spPr>
          <a:xfrm>
            <a:off x="4232275" y="5273080"/>
            <a:ext cx="0" cy="772120"/>
          </a:xfrm>
          <a:prstGeom prst="line">
            <a:avLst/>
          </a:prstGeom>
          <a:noFill/>
          <a:ln w="6350">
            <a:solidFill>
              <a:srgbClr val="D9D8D2"/>
            </a:solidFill>
            <a:prstDash val="solid"/>
          </a:ln>
        </p:spPr>
      </p:sp>
      <p:sp>
        <p:nvSpPr>
          <p:cNvPr id="10" name="Text 7"/>
          <p:cNvSpPr/>
          <p:nvPr/>
        </p:nvSpPr>
        <p:spPr>
          <a:xfrm>
            <a:off x="4540250" y="5476280"/>
            <a:ext cx="3204845"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11111"/>
                </a:solidFill>
                <a:latin typeface="Oswald" pitchFamily="34" charset="0"/>
                <a:ea typeface="Oswald" pitchFamily="34" charset="-122"/>
                <a:cs typeface="Oswald" pitchFamily="34" charset="-120"/>
              </a:rPr>
              <a:t>55%</a:t>
            </a:r>
            <a:endParaRPr lang="en-US" sz="2400" dirty="0"/>
          </a:p>
        </p:txBody>
      </p:sp>
      <p:sp>
        <p:nvSpPr>
          <p:cNvPr id="11" name="Text 8"/>
          <p:cNvSpPr/>
          <p:nvPr/>
        </p:nvSpPr>
        <p:spPr>
          <a:xfrm>
            <a:off x="4540250" y="583188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of them at Frankfurt alone</a:t>
            </a:r>
            <a:endParaRPr lang="en-US" sz="1200" dirty="0"/>
          </a:p>
        </p:txBody>
      </p:sp>
      <p:sp>
        <p:nvSpPr>
          <p:cNvPr id="12" name="Shape 9"/>
          <p:cNvSpPr/>
          <p:nvPr/>
        </p:nvSpPr>
        <p:spPr>
          <a:xfrm>
            <a:off x="7959725" y="5273080"/>
            <a:ext cx="0" cy="772120"/>
          </a:xfrm>
          <a:prstGeom prst="line">
            <a:avLst/>
          </a:prstGeom>
          <a:noFill/>
          <a:ln w="6350">
            <a:solidFill>
              <a:srgbClr val="D9D8D2"/>
            </a:solidFill>
            <a:prstDash val="solid"/>
          </a:ln>
        </p:spPr>
      </p:sp>
      <p:sp>
        <p:nvSpPr>
          <p:cNvPr id="13" name="Text 10"/>
          <p:cNvSpPr/>
          <p:nvPr/>
        </p:nvSpPr>
        <p:spPr>
          <a:xfrm>
            <a:off x="8267700" y="5476280"/>
            <a:ext cx="3204845"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11111"/>
                </a:solidFill>
                <a:latin typeface="Oswald" pitchFamily="34" charset="0"/>
                <a:ea typeface="Oswald" pitchFamily="34" charset="-122"/>
                <a:cs typeface="Oswald" pitchFamily="34" charset="-120"/>
              </a:rPr>
              <a:t>1 in 16</a:t>
            </a:r>
            <a:endParaRPr lang="en-US" sz="2400" dirty="0"/>
          </a:p>
        </p:txBody>
      </p:sp>
      <p:sp>
        <p:nvSpPr>
          <p:cNvPr id="14" name="Text 11"/>
          <p:cNvSpPr/>
          <p:nvPr/>
        </p:nvSpPr>
        <p:spPr>
          <a:xfrm>
            <a:off x="8267700" y="5831880"/>
            <a:ext cx="320484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airport-days is disrupted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8F6"/>
        </a:solidFill>
      </p:bgPr>
    </p:bg>
    <p:spTree>
      <p:nvGrpSpPr>
        <p:cNvPr id="1" name=""/>
        <p:cNvGrpSpPr/>
        <p:nvPr/>
      </p:nvGrpSpPr>
      <p:grpSpPr>
        <a:xfrm>
          <a:off x="0" y="0"/>
          <a:ext cx="0" cy="0"/>
          <a:chOff x="0" y="0"/>
          <a:chExt cx="0" cy="0"/>
        </a:xfrm>
      </p:grpSpPr>
      <p:pic>
        <p:nvPicPr>
          <p:cNvPr id="2" name="Image 0" descr="Map of the 12 German airports: bubble size shows arrivals, colour shows the share of disrupted days; Frankfurt is highest at 19.4%">    </p:cNvPr>
          <p:cNvPicPr>
            <a:picLocks noChangeAspect="1"/>
          </p:cNvPicPr>
          <p:nvPr/>
        </p:nvPicPr>
        <p:blipFill>
          <a:blip r:embed="rId1"/>
          <a:srcRect l="0" r="0" t="-3247" b="-3247"/>
          <a:stretch/>
        </p:blipFill>
        <p:spPr>
          <a:xfrm>
            <a:off x="6908800" y="812800"/>
            <a:ext cx="4470400" cy="5232400"/>
          </a:xfrm>
          <a:prstGeom prst="rect">
            <a:avLst/>
          </a:prstGeom>
        </p:spPr>
      </p:pic>
      <p:sp>
        <p:nvSpPr>
          <p:cNvPr id="3" name="Text 0"/>
          <p:cNvSpPr/>
          <p:nvPr/>
        </p:nvSpPr>
        <p:spPr>
          <a:xfrm>
            <a:off x="812800" y="812800"/>
            <a:ext cx="586028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DM Sans" pitchFamily="34" charset="0"/>
                <a:ea typeface="DM Sans" pitchFamily="34" charset="-122"/>
                <a:cs typeface="DM Sans" pitchFamily="34" charset="-120"/>
              </a:rPr>
              <a:t>THE PROJECT</a:t>
            </a:r>
            <a:endParaRPr lang="en-US" sz="1200" dirty="0"/>
          </a:p>
        </p:txBody>
      </p:sp>
      <p:sp>
        <p:nvSpPr>
          <p:cNvPr id="4" name="Text 1"/>
          <p:cNvSpPr/>
          <p:nvPr>
            <p:ph type="title"/>
          </p:nvPr>
        </p:nvSpPr>
        <p:spPr>
          <a:xfrm>
            <a:off x="812800" y="1178520"/>
            <a:ext cx="5860288" cy="1701800"/>
          </a:xfrm>
          <a:prstGeom prst="rect">
            <a:avLst/>
          </a:prstGeom>
          <a:noFill/>
          <a:ln/>
        </p:spPr>
        <p:txBody>
          <a:bodyPr wrap="square" lIns="0" tIns="0" rIns="0" bIns="0" rtlCol="0" anchor="t">
            <a:normAutofit/>
          </a:bodyPr>
          <a:lstStyle/>
          <a:p>
            <a:pPr algn="l" indent="0" marL="0">
              <a:lnSpc>
                <a:spcPts val="4400"/>
              </a:lnSpc>
              <a:buNone/>
            </a:pPr>
            <a:r>
              <a:rPr lang="en-US" sz="4400" b="0" i="0" spc="50" kern="0" dirty="0">
                <a:solidFill>
                  <a:srgbClr val="111111"/>
                </a:solidFill>
                <a:latin typeface="Oswald" pitchFamily="34" charset="0"/>
                <a:ea typeface="Oswald" pitchFamily="34" charset="-122"/>
                <a:cs typeface="Oswald" pitchFamily="34" charset="-120"/>
              </a:rPr>
              <a:t>CAN PUBLIC DATA PREDICT A DISRUPTED DAY?</a:t>
            </a:r>
            <a:endParaRPr lang="en-US" sz="4400" dirty="0"/>
          </a:p>
        </p:txBody>
      </p:sp>
      <p:pic>
        <p:nvPicPr>
          <p:cNvPr id="5" name="Image 1" descr="line">    </p:cNvPr>
          <p:cNvPicPr>
            <a:picLocks noChangeAspect="1"/>
          </p:cNvPicPr>
          <p:nvPr/>
        </p:nvPicPr>
        <p:blipFill>
          <a:blip r:embed="rId2"/>
          <a:srcRect l="0" r="0" t="0" b="0"/>
          <a:stretch/>
        </p:blipFill>
        <p:spPr>
          <a:xfrm>
            <a:off x="812800" y="3007320"/>
            <a:ext cx="1016000" cy="50800"/>
          </a:xfrm>
          <a:prstGeom prst="rect">
            <a:avLst/>
          </a:prstGeom>
        </p:spPr>
      </p:pic>
      <p:sp>
        <p:nvSpPr>
          <p:cNvPr id="6" name="Text 2"/>
          <p:cNvSpPr/>
          <p:nvPr/>
        </p:nvSpPr>
        <p:spPr>
          <a:xfrm>
            <a:off x="812800" y="3167013"/>
            <a:ext cx="5860288"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DM Sans" pitchFamily="34" charset="0"/>
                <a:ea typeface="DM Sans" pitchFamily="34" charset="-122"/>
                <a:cs typeface="DM Sans" pitchFamily="34" charset="-120"/>
              </a:rPr>
              <a:t>A day counts as </a:t>
            </a:r>
            <a:r>
              <a:rPr lang="en-US" sz="1600" b="1" dirty="0">
                <a:solidFill>
                  <a:srgbClr val="111111"/>
                </a:solidFill>
                <a:latin typeface="DM Sans" pitchFamily="34" charset="0"/>
                <a:ea typeface="DM Sans" pitchFamily="34" charset="-122"/>
                <a:cs typeface="DM Sans" pitchFamily="34" charset="-120"/>
              </a:rPr>
              <a:t>disrupted</a:t>
            </a:r>
            <a:r>
              <a:rPr lang="en-US" sz="1600" dirty="0">
                <a:solidFill>
                  <a:srgbClr val="111111"/>
                </a:solidFill>
                <a:latin typeface="DM Sans" pitchFamily="34" charset="0"/>
                <a:ea typeface="DM Sans" pitchFamily="34" charset="-122"/>
                <a:cs typeface="DM Sans" pitchFamily="34" charset="-120"/>
              </a:rPr>
              <a:t> when at least 2% of its arrivals get more than 15 minutes of ATFM delay. That is 6.2% of all days, and 19.4% at Frankfurt.</a:t>
            </a:r>
            <a:endParaRPr lang="en-US" sz="1600" dirty="0"/>
          </a:p>
        </p:txBody>
      </p:sp>
      <p:sp>
        <p:nvSpPr>
          <p:cNvPr id="7" name="Shape 3"/>
          <p:cNvSpPr/>
          <p:nvPr/>
        </p:nvSpPr>
        <p:spPr>
          <a:xfrm>
            <a:off x="812800" y="4132411"/>
            <a:ext cx="5689600" cy="0"/>
          </a:xfrm>
          <a:prstGeom prst="line">
            <a:avLst/>
          </a:prstGeom>
          <a:noFill/>
          <a:ln w="6350">
            <a:solidFill>
              <a:srgbClr val="D9D8D2"/>
            </a:solidFill>
            <a:prstDash val="solid"/>
          </a:ln>
        </p:spPr>
      </p:sp>
      <p:sp>
        <p:nvSpPr>
          <p:cNvPr id="8" name="Text 4"/>
          <p:cNvSpPr/>
          <p:nvPr/>
        </p:nvSpPr>
        <p:spPr>
          <a:xfrm>
            <a:off x="812800" y="4262586"/>
            <a:ext cx="157480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4FD8"/>
                </a:solidFill>
                <a:latin typeface="Oswald" pitchFamily="34" charset="0"/>
                <a:ea typeface="Oswald" pitchFamily="34" charset="-122"/>
                <a:cs typeface="Oswald" pitchFamily="34" charset="-120"/>
              </a:rPr>
              <a:t>RISK</a:t>
            </a:r>
            <a:endParaRPr lang="en-US" sz="2400" dirty="0"/>
          </a:p>
        </p:txBody>
      </p:sp>
      <p:sp>
        <p:nvSpPr>
          <p:cNvPr id="9" name="Text 5"/>
          <p:cNvSpPr/>
          <p:nvPr/>
        </p:nvSpPr>
        <p:spPr>
          <a:xfrm>
            <a:off x="2540000" y="4402286"/>
            <a:ext cx="386518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DM Sans" pitchFamily="34" charset="0"/>
                <a:ea typeface="DM Sans" pitchFamily="34" charset="-122"/>
                <a:cs typeface="DM Sans" pitchFamily="34" charset="-120"/>
              </a:rPr>
              <a:t>Will today be disrupted? </a:t>
            </a:r>
            <a:r>
              <a:rPr lang="en-US" sz="1600" dirty="0">
                <a:solidFill>
                  <a:srgbClr val="5F5E5A"/>
                </a:solidFill>
                <a:latin typeface="DM Sans" pitchFamily="34" charset="0"/>
                <a:ea typeface="DM Sans" pitchFamily="34" charset="-122"/>
                <a:cs typeface="DM Sans" pitchFamily="34" charset="-120"/>
              </a:rPr>
              <a:t>yes or no</a:t>
            </a:r>
            <a:endParaRPr lang="en-US" sz="1600" dirty="0"/>
          </a:p>
        </p:txBody>
      </p:sp>
      <p:sp>
        <p:nvSpPr>
          <p:cNvPr id="10" name="Shape 6"/>
          <p:cNvSpPr/>
          <p:nvPr/>
        </p:nvSpPr>
        <p:spPr>
          <a:xfrm>
            <a:off x="812800" y="4819452"/>
            <a:ext cx="5689600" cy="0"/>
          </a:xfrm>
          <a:prstGeom prst="line">
            <a:avLst/>
          </a:prstGeom>
          <a:noFill/>
          <a:ln w="6350">
            <a:solidFill>
              <a:srgbClr val="D9D8D2"/>
            </a:solidFill>
            <a:prstDash val="solid"/>
          </a:ln>
        </p:spPr>
      </p:sp>
      <p:sp>
        <p:nvSpPr>
          <p:cNvPr id="11" name="Shape 7"/>
          <p:cNvSpPr/>
          <p:nvPr/>
        </p:nvSpPr>
        <p:spPr>
          <a:xfrm>
            <a:off x="812800" y="5506492"/>
            <a:ext cx="5689600" cy="0"/>
          </a:xfrm>
          <a:prstGeom prst="line">
            <a:avLst/>
          </a:prstGeom>
          <a:noFill/>
          <a:ln w="6350">
            <a:solidFill>
              <a:srgbClr val="D9D8D2"/>
            </a:solidFill>
            <a:prstDash val="solid"/>
          </a:ln>
        </p:spPr>
      </p:sp>
      <p:sp>
        <p:nvSpPr>
          <p:cNvPr id="12" name="Text 8"/>
          <p:cNvSpPr/>
          <p:nvPr/>
        </p:nvSpPr>
        <p:spPr>
          <a:xfrm>
            <a:off x="812800" y="4949627"/>
            <a:ext cx="157480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F4FD8"/>
                </a:solidFill>
                <a:latin typeface="Oswald" pitchFamily="34" charset="0"/>
                <a:ea typeface="Oswald" pitchFamily="34" charset="-122"/>
                <a:cs typeface="Oswald" pitchFamily="34" charset="-120"/>
              </a:rPr>
              <a:t>SEVERITY</a:t>
            </a:r>
            <a:endParaRPr lang="en-US" sz="2400" dirty="0"/>
          </a:p>
        </p:txBody>
      </p:sp>
      <p:sp>
        <p:nvSpPr>
          <p:cNvPr id="13" name="Text 9"/>
          <p:cNvSpPr/>
          <p:nvPr/>
        </p:nvSpPr>
        <p:spPr>
          <a:xfrm>
            <a:off x="2540000" y="5089327"/>
            <a:ext cx="39624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DM Sans" pitchFamily="34" charset="0"/>
                <a:ea typeface="DM Sans" pitchFamily="34" charset="-122"/>
                <a:cs typeface="DM Sans" pitchFamily="34" charset="-120"/>
              </a:rPr>
              <a:t>How many delay minutes per arrival?</a:t>
            </a:r>
            <a:endParaRPr lang="en-US" sz="1600" dirty="0"/>
          </a:p>
        </p:txBody>
      </p:sp>
      <p:sp>
        <p:nvSpPr>
          <p:cNvPr id="14" name="Text 10"/>
          <p:cNvSpPr/>
          <p:nvPr/>
        </p:nvSpPr>
        <p:spPr>
          <a:xfrm>
            <a:off x="812800" y="5618559"/>
            <a:ext cx="58602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12 airports · 2014–2025 · 52,596 airport-days · EUROCONTROL and DWD open data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8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DM Sans" pitchFamily="34" charset="0"/>
                <a:ea typeface="DM Sans" pitchFamily="34" charset="-122"/>
                <a:cs typeface="DM Sans" pitchFamily="34" charset="-120"/>
              </a:rPr>
              <a:t>DATA SOURCES</a:t>
            </a:r>
            <a:endParaRPr lang="en-US" sz="1200" dirty="0"/>
          </a:p>
        </p:txBody>
      </p:sp>
      <p:sp>
        <p:nvSpPr>
          <p:cNvPr id="3" name="Text 1"/>
          <p:cNvSpPr/>
          <p:nvPr>
            <p:ph type="title"/>
          </p:nvPr>
        </p:nvSpPr>
        <p:spPr>
          <a:xfrm>
            <a:off x="812800" y="11785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0" i="0" spc="50" kern="0" dirty="0">
                <a:solidFill>
                  <a:srgbClr val="111111"/>
                </a:solidFill>
                <a:latin typeface="Oswald" pitchFamily="34" charset="0"/>
                <a:ea typeface="Oswald" pitchFamily="34" charset="-122"/>
                <a:cs typeface="Oswald" pitchFamily="34" charset="-120"/>
              </a:rPr>
              <a:t>TWO PUBLIC SOURCES BECOME ONE TABLE</a:t>
            </a:r>
            <a:endParaRPr lang="en-US" sz="4400" dirty="0"/>
          </a:p>
        </p:txBody>
      </p:sp>
      <p:pic>
        <p:nvPicPr>
          <p:cNvPr id="4" name="Image 0" descr="line">    </p:cNvPr>
          <p:cNvPicPr>
            <a:picLocks noChangeAspect="1"/>
          </p:cNvPicPr>
          <p:nvPr/>
        </p:nvPicPr>
        <p:blipFill>
          <a:blip r:embed="rId1"/>
          <a:srcRect l="0" r="0" t="0" b="0"/>
          <a:stretch/>
        </p:blipFill>
        <p:spPr>
          <a:xfrm>
            <a:off x="812800" y="1889720"/>
            <a:ext cx="1016000" cy="50800"/>
          </a:xfrm>
          <a:prstGeom prst="rect">
            <a:avLst/>
          </a:prstGeom>
        </p:spPr>
      </p:pic>
      <p:pic>
        <p:nvPicPr>
          <p:cNvPr id="5" name="Image 1" descr="Pipeline: EUROCONTROL and DWD data are cleaned and joined into the 52,596-row airport_day table, which feeds the BI notebooks and the models">    </p:cNvPr>
          <p:cNvPicPr>
            <a:picLocks noChangeAspect="1"/>
          </p:cNvPicPr>
          <p:nvPr/>
        </p:nvPicPr>
        <p:blipFill>
          <a:blip r:embed="rId2"/>
          <a:srcRect l="-46" r="-46" t="0" b="0"/>
          <a:stretch/>
        </p:blipFill>
        <p:spPr>
          <a:xfrm>
            <a:off x="1968500" y="2194520"/>
            <a:ext cx="8255000" cy="3606800"/>
          </a:xfrm>
          <a:prstGeom prst="rect">
            <a:avLst/>
          </a:prstGeom>
        </p:spPr>
      </p:pic>
      <p:sp>
        <p:nvSpPr>
          <p:cNvPr id="6" name="Text 2"/>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84 raw files, each logged with a SHA-256 hash · a rebuild from raw gives an identical dataset · the 2025 file even had Umlaut trouble: two text encodings in one file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8F6"/>
        </a:solidFill>
      </p:bgPr>
    </p:bg>
    <p:spTree>
      <p:nvGrpSpPr>
        <p:cNvPr id="1" name=""/>
        <p:cNvGrpSpPr/>
        <p:nvPr/>
      </p:nvGrpSpPr>
      <p:grpSpPr>
        <a:xfrm>
          <a:off x="0" y="0"/>
          <a:ext cx="0" cy="0"/>
          <a:chOff x="0" y="0"/>
          <a:chExt cx="0" cy="0"/>
        </a:xfrm>
      </p:grpSpPr>
      <p:sp>
        <p:nvSpPr>
          <p:cNvPr id="2" name="Text 0"/>
          <p:cNvSpPr/>
          <p:nvPr/>
        </p:nvSpPr>
        <p:spPr>
          <a:xfrm>
            <a:off x="812800" y="812800"/>
            <a:ext cx="10883392" cy="221506"/>
          </a:xfrm>
          <a:prstGeom prst="rect">
            <a:avLst/>
          </a:prstGeom>
          <a:noFill/>
          <a:ln/>
        </p:spPr>
        <p:txBody>
          <a:bodyPr wrap="square" lIns="0" tIns="0" rIns="0" bIns="0" rtlCol="0" anchor="t">
            <a:normAutofit/>
          </a:bodyPr>
          <a:lstStyle/>
          <a:p>
            <a:pPr algn="l" indent="0" marL="0">
              <a:lnSpc>
                <a:spcPts val="1570"/>
              </a:lnSpc>
              <a:buNone/>
            </a:pPr>
            <a:r>
              <a:rPr lang="en-US" sz="1121" b="1" spc="150" kern="0" dirty="0">
                <a:solidFill>
                  <a:srgbClr val="1F4FD8"/>
                </a:solidFill>
                <a:latin typeface="DM Sans" pitchFamily="34" charset="0"/>
                <a:ea typeface="DM Sans" pitchFamily="34" charset="-122"/>
                <a:cs typeface="DM Sans" pitchFamily="34" charset="-120"/>
              </a:rPr>
              <a:t>FRANKFURT · NOVEMBER 2024</a:t>
            </a:r>
            <a:endParaRPr lang="en-US" sz="1121" dirty="0"/>
          </a:p>
        </p:txBody>
      </p:sp>
      <p:sp>
        <p:nvSpPr>
          <p:cNvPr id="3" name="Text 1"/>
          <p:cNvSpPr/>
          <p:nvPr>
            <p:ph type="title"/>
          </p:nvPr>
        </p:nvSpPr>
        <p:spPr>
          <a:xfrm>
            <a:off x="812800" y="1161306"/>
            <a:ext cx="10883392" cy="539155"/>
          </a:xfrm>
          <a:prstGeom prst="rect">
            <a:avLst/>
          </a:prstGeom>
          <a:noFill/>
          <a:ln/>
        </p:spPr>
        <p:txBody>
          <a:bodyPr wrap="square" lIns="0" tIns="0" rIns="0" bIns="0" rtlCol="0" anchor="t">
            <a:normAutofit/>
          </a:bodyPr>
          <a:lstStyle/>
          <a:p>
            <a:pPr algn="l" indent="0" marL="0">
              <a:lnSpc>
                <a:spcPts val="4070"/>
              </a:lnSpc>
              <a:buNone/>
            </a:pPr>
            <a:r>
              <a:rPr lang="en-US" sz="4070" b="0" i="0" spc="50" kern="0" dirty="0">
                <a:solidFill>
                  <a:srgbClr val="111111"/>
                </a:solidFill>
                <a:latin typeface="Oswald" pitchFamily="34" charset="0"/>
                <a:ea typeface="Oswald" pitchFamily="34" charset="-122"/>
                <a:cs typeface="Oswald" pitchFamily="34" charset="-120"/>
              </a:rPr>
              <a:t>ONE ROW PER AIRPORT PER DAY, 79 COLUMNS</a:t>
            </a:r>
            <a:endParaRPr lang="en-US" sz="4070" dirty="0"/>
          </a:p>
        </p:txBody>
      </p:sp>
      <p:pic>
        <p:nvPicPr>
          <p:cNvPr id="4" name="Image 0" descr="line">    </p:cNvPr>
          <p:cNvPicPr>
            <a:picLocks noChangeAspect="1"/>
          </p:cNvPicPr>
          <p:nvPr/>
        </p:nvPicPr>
        <p:blipFill>
          <a:blip r:embed="rId1"/>
          <a:srcRect l="0" r="0" t="0" b="0"/>
          <a:stretch/>
        </p:blipFill>
        <p:spPr>
          <a:xfrm>
            <a:off x="812800" y="1827461"/>
            <a:ext cx="1016000" cy="50800"/>
          </a:xfrm>
          <a:prstGeom prst="rect">
            <a:avLst/>
          </a:prstGeom>
        </p:spPr>
      </p:pic>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44961"/>
          <a:ext cx="10553700" cy="2906961"/>
        </p:xfrm>
        <a:graphic>
          <a:graphicData uri="http://schemas.openxmlformats.org/drawingml/2006/table">
            <a:tbl>
              <a:tblPr/>
              <a:tblGrid>
                <a:gridCol w="1477518"/>
                <a:gridCol w="1371981"/>
                <a:gridCol w="1688592"/>
                <a:gridCol w="1688592"/>
                <a:gridCol w="1371981"/>
                <a:gridCol w="1477518"/>
                <a:gridCol w="1477518"/>
              </a:tblGrid>
              <a:tr h="415280">
                <a:tc>
                  <a:txBody>
                    <a:bodyPr/>
                    <a:lstStyle/>
                    <a:p>
                      <a:pPr indent="0" marL="0">
                        <a:lnSpc>
                          <a:spcPts val="2114"/>
                        </a:lnSpc>
                        <a:buNone/>
                      </a:pPr>
                      <a:r>
                        <a:rPr lang="en-US" sz="1510" b="1" dirty="0">
                          <a:solidFill>
                            <a:srgbClr val="5F5E5A"/>
                          </a:solidFill>
                          <a:latin typeface="DM Sans" pitchFamily="34" charset="0"/>
                          <a:ea typeface="DM Sans" pitchFamily="34" charset="-122"/>
                          <a:cs typeface="DM Sans" pitchFamily="34" charset="-120"/>
                        </a:rPr>
                        <a:t>Date</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B8B8B6"/>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8B8B6"/>
                      </a:solidFill>
                      <a:prstDash val="solid"/>
                      <a:round/>
                      <a:headEnd type="none" w="med" len="med"/>
                      <a:tailEnd type="none" w="med" len="med"/>
                    </a:lnB>
                    <a:solidFill>
                      <a:srgbClr val="E6E6E4"/>
                    </a:solidFill>
                  </a:tcPr>
                </a:tc>
                <a:tc>
                  <a:txBody>
                    <a:bodyPr/>
                    <a:lstStyle/>
                    <a:p>
                      <a:pPr algn="r" indent="0" marL="0">
                        <a:lnSpc>
                          <a:spcPts val="2114"/>
                        </a:lnSpc>
                        <a:buNone/>
                      </a:pPr>
                      <a:r>
                        <a:rPr lang="en-US" sz="1510" b="1" dirty="0">
                          <a:solidFill>
                            <a:srgbClr val="5F5E5A"/>
                          </a:solidFill>
                          <a:latin typeface="DM Sans" pitchFamily="34" charset="0"/>
                          <a:ea typeface="DM Sans" pitchFamily="34" charset="-122"/>
                          <a:cs typeface="DM Sans" pitchFamily="34" charset="-120"/>
                        </a:rPr>
                        <a:t>Arrivals</a:t>
                      </a:r>
                      <a:endParaRPr lang="en-US" sz="1510" dirty="0">
                        <a:latin typeface="DM Sans" charset="0"/>
                        <a:ea typeface="DM Sans" charset="0"/>
                        <a:cs typeface="DM Sans" charset="0"/>
                      </a:endParaRPr>
                    </a:p>
                  </a:txBody>
                  <a:tcPr marL="67119" marR="67119" marT="67119" marB="67119" anchor="t">
                    <a:lnL w="12700" cap="flat" cmpd="sng" algn="ctr">
                      <a:solidFill>
                        <a:srgbClr val="B8B8B6"/>
                      </a:solidFill>
                      <a:prstDash val="solid"/>
                      <a:round/>
                      <a:headEnd type="none" w="med" len="med"/>
                      <a:tailEnd type="none" w="med" len="med"/>
                    </a:lnL>
                    <a:lnR w="12700" cap="flat" cmpd="sng" algn="ctr">
                      <a:solidFill>
                        <a:srgbClr val="B8B8B6"/>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8B8B6"/>
                      </a:solidFill>
                      <a:prstDash val="solid"/>
                      <a:round/>
                      <a:headEnd type="none" w="med" len="med"/>
                      <a:tailEnd type="none" w="med" len="med"/>
                    </a:lnB>
                    <a:solidFill>
                      <a:srgbClr val="E6E6E4"/>
                    </a:solidFill>
                  </a:tcPr>
                </a:tc>
                <a:tc>
                  <a:txBody>
                    <a:bodyPr/>
                    <a:lstStyle/>
                    <a:p>
                      <a:pPr algn="r" indent="0" marL="0">
                        <a:lnSpc>
                          <a:spcPts val="2114"/>
                        </a:lnSpc>
                        <a:buNone/>
                      </a:pPr>
                      <a:r>
                        <a:rPr lang="en-US" sz="1510" b="1" dirty="0">
                          <a:solidFill>
                            <a:srgbClr val="5F5E5A"/>
                          </a:solidFill>
                          <a:latin typeface="DM Sans" pitchFamily="34" charset="0"/>
                          <a:ea typeface="DM Sans" pitchFamily="34" charset="-122"/>
                          <a:cs typeface="DM Sans" pitchFamily="34" charset="-120"/>
                        </a:rPr>
                        <a:t>Delay, min</a:t>
                      </a:r>
                      <a:endParaRPr lang="en-US" sz="1510" dirty="0">
                        <a:latin typeface="DM Sans" charset="0"/>
                        <a:ea typeface="DM Sans" charset="0"/>
                        <a:cs typeface="DM Sans" charset="0"/>
                      </a:endParaRPr>
                    </a:p>
                  </a:txBody>
                  <a:tcPr marL="67119" marR="67119" marT="67119" marB="67119" anchor="t">
                    <a:lnL w="12700" cap="flat" cmpd="sng" algn="ctr">
                      <a:solidFill>
                        <a:srgbClr val="B8B8B6"/>
                      </a:solidFill>
                      <a:prstDash val="solid"/>
                      <a:round/>
                      <a:headEnd type="none" w="med" len="med"/>
                      <a:tailEnd type="none" w="med" len="med"/>
                    </a:lnL>
                    <a:lnR w="12700" cap="flat" cmpd="sng" algn="ctr">
                      <a:solidFill>
                        <a:srgbClr val="B8B8B6"/>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8B8B6"/>
                      </a:solidFill>
                      <a:prstDash val="solid"/>
                      <a:round/>
                      <a:headEnd type="none" w="med" len="med"/>
                      <a:tailEnd type="none" w="med" len="med"/>
                    </a:lnB>
                    <a:solidFill>
                      <a:srgbClr val="E6E6E4"/>
                    </a:solidFill>
                  </a:tcPr>
                </a:tc>
                <a:tc>
                  <a:txBody>
                    <a:bodyPr/>
                    <a:lstStyle/>
                    <a:p>
                      <a:pPr algn="r" indent="0" marL="0">
                        <a:lnSpc>
                          <a:spcPts val="2114"/>
                        </a:lnSpc>
                        <a:buNone/>
                      </a:pPr>
                      <a:r>
                        <a:rPr lang="en-US" sz="1510" b="1" dirty="0">
                          <a:solidFill>
                            <a:srgbClr val="5F5E5A"/>
                          </a:solidFill>
                          <a:latin typeface="DM Sans" pitchFamily="34" charset="0"/>
                          <a:ea typeface="DM Sans" pitchFamily="34" charset="-122"/>
                          <a:cs typeface="DM Sans" pitchFamily="34" charset="-120"/>
                        </a:rPr>
                        <a:t>Over 15 min</a:t>
                      </a:r>
                      <a:endParaRPr lang="en-US" sz="1510" dirty="0">
                        <a:latin typeface="DM Sans" charset="0"/>
                        <a:ea typeface="DM Sans" charset="0"/>
                        <a:cs typeface="DM Sans" charset="0"/>
                      </a:endParaRPr>
                    </a:p>
                  </a:txBody>
                  <a:tcPr marL="67119" marR="67119" marT="67119" marB="67119" anchor="t">
                    <a:lnL w="12700" cap="flat" cmpd="sng" algn="ctr">
                      <a:solidFill>
                        <a:srgbClr val="B8B8B6"/>
                      </a:solidFill>
                      <a:prstDash val="solid"/>
                      <a:round/>
                      <a:headEnd type="none" w="med" len="med"/>
                      <a:tailEnd type="none" w="med" len="med"/>
                    </a:lnL>
                    <a:lnR w="12700" cap="flat" cmpd="sng" algn="ctr">
                      <a:solidFill>
                        <a:srgbClr val="B8B8B6"/>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8B8B6"/>
                      </a:solidFill>
                      <a:prstDash val="solid"/>
                      <a:round/>
                      <a:headEnd type="none" w="med" len="med"/>
                      <a:tailEnd type="none" w="med" len="med"/>
                    </a:lnB>
                    <a:solidFill>
                      <a:srgbClr val="E6E6E4"/>
                    </a:solidFill>
                  </a:tcPr>
                </a:tc>
                <a:tc>
                  <a:txBody>
                    <a:bodyPr/>
                    <a:lstStyle/>
                    <a:p>
                      <a:pPr algn="r" indent="0" marL="0">
                        <a:lnSpc>
                          <a:spcPts val="2114"/>
                        </a:lnSpc>
                        <a:buNone/>
                      </a:pPr>
                      <a:r>
                        <a:rPr lang="en-US" sz="1510" b="1" dirty="0">
                          <a:solidFill>
                            <a:srgbClr val="5F5E5A"/>
                          </a:solidFill>
                          <a:latin typeface="DM Sans" pitchFamily="34" charset="0"/>
                          <a:ea typeface="DM Sans" pitchFamily="34" charset="-122"/>
                          <a:cs typeface="DM Sans" pitchFamily="34" charset="-120"/>
                        </a:rPr>
                        <a:t>Share</a:t>
                      </a:r>
                      <a:endParaRPr lang="en-US" sz="1510" dirty="0">
                        <a:latin typeface="DM Sans" charset="0"/>
                        <a:ea typeface="DM Sans" charset="0"/>
                        <a:cs typeface="DM Sans" charset="0"/>
                      </a:endParaRPr>
                    </a:p>
                  </a:txBody>
                  <a:tcPr marL="67119" marR="67119" marT="67119" marB="67119" anchor="t">
                    <a:lnL w="12700" cap="flat" cmpd="sng" algn="ctr">
                      <a:solidFill>
                        <a:srgbClr val="B8B8B6"/>
                      </a:solidFill>
                      <a:prstDash val="solid"/>
                      <a:round/>
                      <a:headEnd type="none" w="med" len="med"/>
                      <a:tailEnd type="none" w="med" len="med"/>
                    </a:lnL>
                    <a:lnR w="12700" cap="flat" cmpd="sng" algn="ctr">
                      <a:solidFill>
                        <a:srgbClr val="B8B8B6"/>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8B8B6"/>
                      </a:solidFill>
                      <a:prstDash val="solid"/>
                      <a:round/>
                      <a:headEnd type="none" w="med" len="med"/>
                      <a:tailEnd type="none" w="med" len="med"/>
                    </a:lnB>
                    <a:solidFill>
                      <a:srgbClr val="E6E6E4"/>
                    </a:solidFill>
                  </a:tcPr>
                </a:tc>
                <a:tc>
                  <a:txBody>
                    <a:bodyPr/>
                    <a:lstStyle/>
                    <a:p>
                      <a:pPr algn="r" indent="0" marL="0">
                        <a:lnSpc>
                          <a:spcPts val="2114"/>
                        </a:lnSpc>
                        <a:buNone/>
                      </a:pPr>
                      <a:r>
                        <a:rPr lang="en-US" sz="1510" b="1" dirty="0">
                          <a:solidFill>
                            <a:srgbClr val="5F5E5A"/>
                          </a:solidFill>
                          <a:latin typeface="DM Sans" pitchFamily="34" charset="0"/>
                          <a:ea typeface="DM Sans" pitchFamily="34" charset="-122"/>
                          <a:cs typeface="DM Sans" pitchFamily="34" charset="-120"/>
                        </a:rPr>
                        <a:t>Max gust</a:t>
                      </a:r>
                      <a:endParaRPr lang="en-US" sz="1510" dirty="0">
                        <a:latin typeface="DM Sans" charset="0"/>
                        <a:ea typeface="DM Sans" charset="0"/>
                        <a:cs typeface="DM Sans" charset="0"/>
                      </a:endParaRPr>
                    </a:p>
                  </a:txBody>
                  <a:tcPr marL="67119" marR="67119" marT="67119" marB="67119" anchor="t">
                    <a:lnL w="12700" cap="flat" cmpd="sng" algn="ctr">
                      <a:solidFill>
                        <a:srgbClr val="B8B8B6"/>
                      </a:solidFill>
                      <a:prstDash val="solid"/>
                      <a:round/>
                      <a:headEnd type="none" w="med" len="med"/>
                      <a:tailEnd type="none" w="med" len="med"/>
                    </a:lnL>
                    <a:lnR w="12700" cap="flat" cmpd="sng" algn="ctr">
                      <a:solidFill>
                        <a:srgbClr val="B8B8B6"/>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8B8B6"/>
                      </a:solidFill>
                      <a:prstDash val="solid"/>
                      <a:round/>
                      <a:headEnd type="none" w="med" len="med"/>
                      <a:tailEnd type="none" w="med" len="med"/>
                    </a:lnB>
                    <a:solidFill>
                      <a:srgbClr val="E6E6E4"/>
                    </a:solidFill>
                  </a:tcPr>
                </a:tc>
                <a:tc>
                  <a:txBody>
                    <a:bodyPr/>
                    <a:lstStyle/>
                    <a:p>
                      <a:pPr algn="r" indent="0" marL="0">
                        <a:lnSpc>
                          <a:spcPts val="2114"/>
                        </a:lnSpc>
                        <a:buNone/>
                      </a:pPr>
                      <a:r>
                        <a:rPr lang="en-US" sz="1510" b="1" dirty="0">
                          <a:solidFill>
                            <a:srgbClr val="5F5E5A"/>
                          </a:solidFill>
                          <a:latin typeface="DM Sans" pitchFamily="34" charset="0"/>
                          <a:ea typeface="DM Sans" pitchFamily="34" charset="-122"/>
                          <a:cs typeface="DM Sans" pitchFamily="34" charset="-120"/>
                        </a:rPr>
                        <a:t>Disrupted</a:t>
                      </a:r>
                      <a:endParaRPr lang="en-US" sz="1510" dirty="0">
                        <a:latin typeface="DM Sans" charset="0"/>
                        <a:ea typeface="DM Sans" charset="0"/>
                        <a:cs typeface="DM Sans" charset="0"/>
                      </a:endParaRPr>
                    </a:p>
                  </a:txBody>
                  <a:tcPr marL="67119" marR="67119" marT="67119" marB="67119" anchor="t">
                    <a:lnL w="12700" cap="flat" cmpd="sng" algn="ctr">
                      <a:solidFill>
                        <a:srgbClr val="B8B8B6"/>
                      </a:solidFill>
                      <a:prstDash val="solid"/>
                      <a:round/>
                      <a:headEnd type="none" w="med" len="med"/>
                      <a:tailEnd type="none" w="med" len="med"/>
                    </a:lnL>
                    <a:lnR w="12700" cap="flat" cmpd="sng" algn="ctr">
                      <a:solidFill>
                        <a:srgbClr val="B8B8B6"/>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8B8B6"/>
                      </a:solidFill>
                      <a:prstDash val="solid"/>
                      <a:round/>
                      <a:headEnd type="none" w="med" len="med"/>
                      <a:tailEnd type="none" w="med" len="med"/>
                    </a:lnB>
                    <a:solidFill>
                      <a:srgbClr val="E6E6E4"/>
                    </a:solidFill>
                  </a:tcPr>
                </a:tc>
              </a:tr>
              <a:tr h="415280">
                <a:tc>
                  <a:txBody>
                    <a:bodyPr/>
                    <a:lstStyle/>
                    <a:p>
                      <a:pPr indent="0" marL="0">
                        <a:lnSpc>
                          <a:spcPts val="2114"/>
                        </a:lnSpc>
                        <a:buNone/>
                      </a:pPr>
                      <a:r>
                        <a:rPr lang="en-US" sz="1510" dirty="0">
                          <a:solidFill>
                            <a:srgbClr val="111111"/>
                          </a:solidFill>
                          <a:latin typeface="DM Sans" pitchFamily="34" charset="0"/>
                          <a:ea typeface="DM Sans" pitchFamily="34" charset="-122"/>
                          <a:cs typeface="DM Sans" pitchFamily="34" charset="-120"/>
                        </a:rPr>
                        <a:t>17 Nov</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8B8B6"/>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588</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8B8B6"/>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0</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8B8B6"/>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0</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8B8B6"/>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0.0%</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8B8B6"/>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13.1 m/s</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8B8B6"/>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no</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8B8B6"/>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r>
              <a:tr h="415280">
                <a:tc>
                  <a:txBody>
                    <a:bodyPr/>
                    <a:lstStyle/>
                    <a:p>
                      <a:pPr indent="0" marL="0">
                        <a:lnSpc>
                          <a:spcPts val="2114"/>
                        </a:lnSpc>
                        <a:buNone/>
                      </a:pPr>
                      <a:r>
                        <a:rPr lang="en-US" sz="1510" dirty="0">
                          <a:solidFill>
                            <a:srgbClr val="111111"/>
                          </a:solidFill>
                          <a:latin typeface="DM Sans" pitchFamily="34" charset="0"/>
                          <a:ea typeface="DM Sans" pitchFamily="34" charset="-122"/>
                          <a:cs typeface="DM Sans" pitchFamily="34" charset="-120"/>
                        </a:rPr>
                        <a:t>18 Nov</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597</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0</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0</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0.0%</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11.9 m/s</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no</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r>
              <a:tr h="415280">
                <a:tc>
                  <a:txBody>
                    <a:bodyPr/>
                    <a:lstStyle/>
                    <a:p>
                      <a:pPr indent="0" marL="0">
                        <a:lnSpc>
                          <a:spcPts val="2114"/>
                        </a:lnSpc>
                        <a:buNone/>
                      </a:pPr>
                      <a:r>
                        <a:rPr lang="en-US" sz="1510" dirty="0">
                          <a:solidFill>
                            <a:srgbClr val="1F4FD8"/>
                          </a:solidFill>
                          <a:latin typeface="DM Sans" pitchFamily="34" charset="0"/>
                          <a:ea typeface="DM Sans" pitchFamily="34" charset="-122"/>
                          <a:cs typeface="DM Sans" pitchFamily="34" charset="-120"/>
                        </a:rPr>
                        <a:t>19 Nov</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B6BCC8"/>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6BCC8"/>
                      </a:solidFill>
                      <a:prstDash val="solid"/>
                      <a:round/>
                      <a:headEnd type="none" w="med" len="med"/>
                      <a:tailEnd type="none" w="med" len="med"/>
                    </a:lnB>
                    <a:solidFill>
                      <a:srgbClr val="E4EBFB"/>
                    </a:solidFill>
                  </a:tcPr>
                </a:tc>
                <a:tc>
                  <a:txBody>
                    <a:bodyPr/>
                    <a:lstStyle/>
                    <a:p>
                      <a:pPr algn="r" indent="0" marL="0">
                        <a:lnSpc>
                          <a:spcPts val="2114"/>
                        </a:lnSpc>
                        <a:buNone/>
                      </a:pPr>
                      <a:r>
                        <a:rPr lang="en-US" sz="1510" dirty="0">
                          <a:solidFill>
                            <a:srgbClr val="1F4FD8"/>
                          </a:solidFill>
                          <a:latin typeface="DM Sans" pitchFamily="34" charset="0"/>
                          <a:ea typeface="DM Sans" pitchFamily="34" charset="-122"/>
                          <a:cs typeface="DM Sans" pitchFamily="34" charset="-120"/>
                        </a:rPr>
                        <a:t>522</a:t>
                      </a:r>
                      <a:endParaRPr lang="en-US" sz="1510" dirty="0">
                        <a:latin typeface="DM Sans" charset="0"/>
                        <a:ea typeface="DM Sans" charset="0"/>
                        <a:cs typeface="DM Sans" charset="0"/>
                      </a:endParaRPr>
                    </a:p>
                  </a:txBody>
                  <a:tcPr marL="67119" marR="67119" marT="67119" marB="67119" anchor="t">
                    <a:lnL w="12700" cap="flat" cmpd="sng" algn="ctr">
                      <a:solidFill>
                        <a:srgbClr val="B6BCC8"/>
                      </a:solidFill>
                      <a:prstDash val="solid"/>
                      <a:round/>
                      <a:headEnd type="none" w="med" len="med"/>
                      <a:tailEnd type="none" w="med" len="med"/>
                    </a:lnL>
                    <a:lnR w="12700" cap="flat" cmpd="sng" algn="ctr">
                      <a:solidFill>
                        <a:srgbClr val="B6BCC8"/>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6BCC8"/>
                      </a:solidFill>
                      <a:prstDash val="solid"/>
                      <a:round/>
                      <a:headEnd type="none" w="med" len="med"/>
                      <a:tailEnd type="none" w="med" len="med"/>
                    </a:lnB>
                    <a:solidFill>
                      <a:srgbClr val="E4EBFB"/>
                    </a:solidFill>
                  </a:tcPr>
                </a:tc>
                <a:tc>
                  <a:txBody>
                    <a:bodyPr/>
                    <a:lstStyle/>
                    <a:p>
                      <a:pPr algn="r" indent="0" marL="0">
                        <a:lnSpc>
                          <a:spcPts val="2114"/>
                        </a:lnSpc>
                        <a:buNone/>
                      </a:pPr>
                      <a:r>
                        <a:rPr lang="en-US" sz="1510" dirty="0">
                          <a:solidFill>
                            <a:srgbClr val="1F4FD8"/>
                          </a:solidFill>
                          <a:latin typeface="DM Sans" pitchFamily="34" charset="0"/>
                          <a:ea typeface="DM Sans" pitchFamily="34" charset="-122"/>
                          <a:cs typeface="DM Sans" pitchFamily="34" charset="-120"/>
                        </a:rPr>
                        <a:t>19,266</a:t>
                      </a:r>
                      <a:endParaRPr lang="en-US" sz="1510" dirty="0">
                        <a:latin typeface="DM Sans" charset="0"/>
                        <a:ea typeface="DM Sans" charset="0"/>
                        <a:cs typeface="DM Sans" charset="0"/>
                      </a:endParaRPr>
                    </a:p>
                  </a:txBody>
                  <a:tcPr marL="67119" marR="67119" marT="67119" marB="67119" anchor="t">
                    <a:lnL w="12700" cap="flat" cmpd="sng" algn="ctr">
                      <a:solidFill>
                        <a:srgbClr val="B6BCC8"/>
                      </a:solidFill>
                      <a:prstDash val="solid"/>
                      <a:round/>
                      <a:headEnd type="none" w="med" len="med"/>
                      <a:tailEnd type="none" w="med" len="med"/>
                    </a:lnL>
                    <a:lnR w="12700" cap="flat" cmpd="sng" algn="ctr">
                      <a:solidFill>
                        <a:srgbClr val="B6BCC8"/>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6BCC8"/>
                      </a:solidFill>
                      <a:prstDash val="solid"/>
                      <a:round/>
                      <a:headEnd type="none" w="med" len="med"/>
                      <a:tailEnd type="none" w="med" len="med"/>
                    </a:lnB>
                    <a:solidFill>
                      <a:srgbClr val="E4EBFB"/>
                    </a:solidFill>
                  </a:tcPr>
                </a:tc>
                <a:tc>
                  <a:txBody>
                    <a:bodyPr/>
                    <a:lstStyle/>
                    <a:p>
                      <a:pPr algn="r" indent="0" marL="0">
                        <a:lnSpc>
                          <a:spcPts val="2114"/>
                        </a:lnSpc>
                        <a:buNone/>
                      </a:pPr>
                      <a:r>
                        <a:rPr lang="en-US" sz="1510" dirty="0">
                          <a:solidFill>
                            <a:srgbClr val="1F4FD8"/>
                          </a:solidFill>
                          <a:latin typeface="DM Sans" pitchFamily="34" charset="0"/>
                          <a:ea typeface="DM Sans" pitchFamily="34" charset="-122"/>
                          <a:cs typeface="DM Sans" pitchFamily="34" charset="-120"/>
                        </a:rPr>
                        <a:t>293</a:t>
                      </a:r>
                      <a:endParaRPr lang="en-US" sz="1510" dirty="0">
                        <a:latin typeface="DM Sans" charset="0"/>
                        <a:ea typeface="DM Sans" charset="0"/>
                        <a:cs typeface="DM Sans" charset="0"/>
                      </a:endParaRPr>
                    </a:p>
                  </a:txBody>
                  <a:tcPr marL="67119" marR="67119" marT="67119" marB="67119" anchor="t">
                    <a:lnL w="12700" cap="flat" cmpd="sng" algn="ctr">
                      <a:solidFill>
                        <a:srgbClr val="B6BCC8"/>
                      </a:solidFill>
                      <a:prstDash val="solid"/>
                      <a:round/>
                      <a:headEnd type="none" w="med" len="med"/>
                      <a:tailEnd type="none" w="med" len="med"/>
                    </a:lnL>
                    <a:lnR w="12700" cap="flat" cmpd="sng" algn="ctr">
                      <a:solidFill>
                        <a:srgbClr val="B6BCC8"/>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6BCC8"/>
                      </a:solidFill>
                      <a:prstDash val="solid"/>
                      <a:round/>
                      <a:headEnd type="none" w="med" len="med"/>
                      <a:tailEnd type="none" w="med" len="med"/>
                    </a:lnB>
                    <a:solidFill>
                      <a:srgbClr val="E4EBFB"/>
                    </a:solidFill>
                  </a:tcPr>
                </a:tc>
                <a:tc>
                  <a:txBody>
                    <a:bodyPr/>
                    <a:lstStyle/>
                    <a:p>
                      <a:pPr algn="r" indent="0" marL="0">
                        <a:lnSpc>
                          <a:spcPts val="2114"/>
                        </a:lnSpc>
                        <a:buNone/>
                      </a:pPr>
                      <a:r>
                        <a:rPr lang="en-US" sz="1510" dirty="0">
                          <a:solidFill>
                            <a:srgbClr val="1F4FD8"/>
                          </a:solidFill>
                          <a:latin typeface="DM Sans" pitchFamily="34" charset="0"/>
                          <a:ea typeface="DM Sans" pitchFamily="34" charset="-122"/>
                          <a:cs typeface="DM Sans" pitchFamily="34" charset="-120"/>
                        </a:rPr>
                        <a:t>56.1%</a:t>
                      </a:r>
                      <a:endParaRPr lang="en-US" sz="1510" dirty="0">
                        <a:latin typeface="DM Sans" charset="0"/>
                        <a:ea typeface="DM Sans" charset="0"/>
                        <a:cs typeface="DM Sans" charset="0"/>
                      </a:endParaRPr>
                    </a:p>
                  </a:txBody>
                  <a:tcPr marL="67119" marR="67119" marT="67119" marB="67119" anchor="t">
                    <a:lnL w="12700" cap="flat" cmpd="sng" algn="ctr">
                      <a:solidFill>
                        <a:srgbClr val="B6BCC8"/>
                      </a:solidFill>
                      <a:prstDash val="solid"/>
                      <a:round/>
                      <a:headEnd type="none" w="med" len="med"/>
                      <a:tailEnd type="none" w="med" len="med"/>
                    </a:lnL>
                    <a:lnR w="12700" cap="flat" cmpd="sng" algn="ctr">
                      <a:solidFill>
                        <a:srgbClr val="B6BCC8"/>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6BCC8"/>
                      </a:solidFill>
                      <a:prstDash val="solid"/>
                      <a:round/>
                      <a:headEnd type="none" w="med" len="med"/>
                      <a:tailEnd type="none" w="med" len="med"/>
                    </a:lnB>
                    <a:solidFill>
                      <a:srgbClr val="E4EBFB"/>
                    </a:solidFill>
                  </a:tcPr>
                </a:tc>
                <a:tc>
                  <a:txBody>
                    <a:bodyPr/>
                    <a:lstStyle/>
                    <a:p>
                      <a:pPr algn="r" indent="0" marL="0">
                        <a:lnSpc>
                          <a:spcPts val="2114"/>
                        </a:lnSpc>
                        <a:buNone/>
                      </a:pPr>
                      <a:r>
                        <a:rPr lang="en-US" sz="1510" dirty="0">
                          <a:solidFill>
                            <a:srgbClr val="1F4FD8"/>
                          </a:solidFill>
                          <a:latin typeface="DM Sans" pitchFamily="34" charset="0"/>
                          <a:ea typeface="DM Sans" pitchFamily="34" charset="-122"/>
                          <a:cs typeface="DM Sans" pitchFamily="34" charset="-120"/>
                        </a:rPr>
                        <a:t>20.1 m/s</a:t>
                      </a:r>
                      <a:endParaRPr lang="en-US" sz="1510" dirty="0">
                        <a:latin typeface="DM Sans" charset="0"/>
                        <a:ea typeface="DM Sans" charset="0"/>
                        <a:cs typeface="DM Sans" charset="0"/>
                      </a:endParaRPr>
                    </a:p>
                  </a:txBody>
                  <a:tcPr marL="67119" marR="67119" marT="67119" marB="67119" anchor="t">
                    <a:lnL w="12700" cap="flat" cmpd="sng" algn="ctr">
                      <a:solidFill>
                        <a:srgbClr val="B6BCC8"/>
                      </a:solidFill>
                      <a:prstDash val="solid"/>
                      <a:round/>
                      <a:headEnd type="none" w="med" len="med"/>
                      <a:tailEnd type="none" w="med" len="med"/>
                    </a:lnL>
                    <a:lnR w="12700" cap="flat" cmpd="sng" algn="ctr">
                      <a:solidFill>
                        <a:srgbClr val="B6BCC8"/>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6BCC8"/>
                      </a:solidFill>
                      <a:prstDash val="solid"/>
                      <a:round/>
                      <a:headEnd type="none" w="med" len="med"/>
                      <a:tailEnd type="none" w="med" len="med"/>
                    </a:lnB>
                    <a:solidFill>
                      <a:srgbClr val="E4EBFB"/>
                    </a:solidFill>
                  </a:tcPr>
                </a:tc>
                <a:tc>
                  <a:txBody>
                    <a:bodyPr/>
                    <a:lstStyle/>
                    <a:p>
                      <a:pPr algn="r" indent="0" marL="0">
                        <a:lnSpc>
                          <a:spcPts val="2114"/>
                        </a:lnSpc>
                        <a:buNone/>
                      </a:pPr>
                      <a:r>
                        <a:rPr lang="en-US" sz="1510" dirty="0">
                          <a:solidFill>
                            <a:srgbClr val="1F4FD8"/>
                          </a:solidFill>
                          <a:latin typeface="DM Sans" pitchFamily="34" charset="0"/>
                          <a:ea typeface="DM Sans" pitchFamily="34" charset="-122"/>
                          <a:cs typeface="DM Sans" pitchFamily="34" charset="-120"/>
                        </a:rPr>
                        <a:t>yes</a:t>
                      </a:r>
                      <a:endParaRPr lang="en-US" sz="1510" dirty="0">
                        <a:latin typeface="DM Sans" charset="0"/>
                        <a:ea typeface="DM Sans" charset="0"/>
                        <a:cs typeface="DM Sans" charset="0"/>
                      </a:endParaRPr>
                    </a:p>
                  </a:txBody>
                  <a:tcPr marL="67119" marR="67119" marT="67119" marB="67119" anchor="t">
                    <a:lnL w="12700" cap="flat" cmpd="sng" algn="ctr">
                      <a:solidFill>
                        <a:srgbClr val="B6BCC8"/>
                      </a:solidFill>
                      <a:prstDash val="solid"/>
                      <a:round/>
                      <a:headEnd type="none" w="med" len="med"/>
                      <a:tailEnd type="none" w="med" len="med"/>
                    </a:lnL>
                    <a:lnR w="12700" cap="flat" cmpd="sng" algn="ctr">
                      <a:solidFill>
                        <a:srgbClr val="B6BCC8"/>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B6BCC8"/>
                      </a:solidFill>
                      <a:prstDash val="solid"/>
                      <a:round/>
                      <a:headEnd type="none" w="med" len="med"/>
                      <a:tailEnd type="none" w="med" len="med"/>
                    </a:lnB>
                    <a:solidFill>
                      <a:srgbClr val="E4EBFB"/>
                    </a:solidFill>
                  </a:tcPr>
                </a:tc>
              </a:tr>
              <a:tr h="415280">
                <a:tc>
                  <a:txBody>
                    <a:bodyPr/>
                    <a:lstStyle/>
                    <a:p>
                      <a:pPr indent="0" marL="0">
                        <a:lnSpc>
                          <a:spcPts val="2114"/>
                        </a:lnSpc>
                        <a:buNone/>
                      </a:pPr>
                      <a:r>
                        <a:rPr lang="en-US" sz="1510" dirty="0">
                          <a:solidFill>
                            <a:srgbClr val="111111"/>
                          </a:solidFill>
                          <a:latin typeface="DM Sans" pitchFamily="34" charset="0"/>
                          <a:ea typeface="DM Sans" pitchFamily="34" charset="-122"/>
                          <a:cs typeface="DM Sans" pitchFamily="34" charset="-120"/>
                        </a:rPr>
                        <a:t>20 Nov</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6BCC8"/>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593</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6BCC8"/>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276</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6BCC8"/>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4</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6BCC8"/>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0.7%</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6BCC8"/>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13.3 m/s</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6BCC8"/>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no</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B6BCC8"/>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r>
              <a:tr h="415280">
                <a:tc>
                  <a:txBody>
                    <a:bodyPr/>
                    <a:lstStyle/>
                    <a:p>
                      <a:pPr indent="0" marL="0">
                        <a:lnSpc>
                          <a:spcPts val="2114"/>
                        </a:lnSpc>
                        <a:buNone/>
                      </a:pPr>
                      <a:r>
                        <a:rPr lang="en-US" sz="1510" dirty="0">
                          <a:solidFill>
                            <a:srgbClr val="111111"/>
                          </a:solidFill>
                          <a:latin typeface="DM Sans" pitchFamily="34" charset="0"/>
                          <a:ea typeface="DM Sans" pitchFamily="34" charset="-122"/>
                          <a:cs typeface="DM Sans" pitchFamily="34" charset="-120"/>
                        </a:rPr>
                        <a:t>21 Nov</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588</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0</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0</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0.0%</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12.4 m/s</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no</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r>
              <a:tr h="415280">
                <a:tc>
                  <a:txBody>
                    <a:bodyPr/>
                    <a:lstStyle/>
                    <a:p>
                      <a:pPr indent="0" marL="0">
                        <a:lnSpc>
                          <a:spcPts val="2114"/>
                        </a:lnSpc>
                        <a:buNone/>
                      </a:pPr>
                      <a:r>
                        <a:rPr lang="en-US" sz="1510" dirty="0">
                          <a:solidFill>
                            <a:srgbClr val="111111"/>
                          </a:solidFill>
                          <a:latin typeface="DM Sans" pitchFamily="34" charset="0"/>
                          <a:ea typeface="DM Sans" pitchFamily="34" charset="-122"/>
                          <a:cs typeface="DM Sans" pitchFamily="34" charset="-120"/>
                        </a:rPr>
                        <a:t>22 Nov</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589</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1,160</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31</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5.3%</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14.1 m/s</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c>
                  <a:txBody>
                    <a:bodyPr/>
                    <a:lstStyle/>
                    <a:p>
                      <a:pPr algn="r" indent="0" marL="0">
                        <a:lnSpc>
                          <a:spcPts val="2114"/>
                        </a:lnSpc>
                        <a:buNone/>
                      </a:pPr>
                      <a:r>
                        <a:rPr lang="en-US" sz="1510" dirty="0">
                          <a:solidFill>
                            <a:srgbClr val="111111"/>
                          </a:solidFill>
                          <a:latin typeface="DM Sans" pitchFamily="34" charset="0"/>
                          <a:ea typeface="DM Sans" pitchFamily="34" charset="-122"/>
                          <a:cs typeface="DM Sans" pitchFamily="34" charset="-120"/>
                        </a:rPr>
                        <a:t>yes</a:t>
                      </a:r>
                      <a:endParaRPr lang="en-US" sz="1510" dirty="0">
                        <a:latin typeface="DM Sans" charset="0"/>
                        <a:ea typeface="DM Sans" charset="0"/>
                        <a:cs typeface="DM Sans" charset="0"/>
                      </a:endParaRPr>
                    </a:p>
                  </a:txBody>
                  <a:tcPr marL="67119" marR="67119" marT="67119" marB="67119" anchor="t">
                    <a:lnL w="12700" cap="flat" cmpd="sng" algn="ctr">
                      <a:solidFill>
                        <a:srgbClr val="C6C6C4"/>
                      </a:solidFill>
                      <a:prstDash val="solid"/>
                      <a:round/>
                      <a:headEnd type="none" w="med" len="med"/>
                      <a:tailEnd type="none" w="med" len="med"/>
                    </a:lnL>
                    <a:lnR w="12700" cap="flat" cmpd="sng" algn="ctr">
                      <a:solidFill>
                        <a:srgbClr val="C6C6C4"/>
                      </a:solidFill>
                      <a:prstDash val="solid"/>
                      <a:round/>
                      <a:headEnd type="none" w="med" len="med"/>
                      <a:tailEnd type="none" w="med" len="med"/>
                    </a:lnR>
                    <a:lnT w="12700" cap="flat" cmpd="sng" algn="ctr">
                      <a:solidFill>
                        <a:srgbClr val="C6C6C4"/>
                      </a:solidFill>
                      <a:prstDash val="solid"/>
                      <a:round/>
                      <a:headEnd type="none" w="med" len="med"/>
                      <a:tailEnd type="none" w="med" len="med"/>
                    </a:lnT>
                    <a:lnB w="12700" cap="flat" cmpd="sng" algn="ctr">
                      <a:solidFill>
                        <a:srgbClr val="C6C6C4"/>
                      </a:solidFill>
                      <a:prstDash val="solid"/>
                      <a:round/>
                      <a:headEnd type="none" w="med" len="med"/>
                      <a:tailEnd type="none" w="med" len="med"/>
                    </a:lnB>
                  </a:tcPr>
                </a:tc>
              </a:tr>
            </a:tbl>
          </a:graphicData>
        </a:graphic>
      </p:graphicFrame>
      <p:sp>
        <p:nvSpPr>
          <p:cNvPr id="6" name="Text 2"/>
          <p:cNvSpPr/>
          <p:nvPr/>
        </p:nvSpPr>
        <p:spPr>
          <a:xfrm>
            <a:off x="812800" y="5304482"/>
            <a:ext cx="9156700" cy="562918"/>
          </a:xfrm>
          <a:prstGeom prst="rect">
            <a:avLst/>
          </a:prstGeom>
          <a:noFill/>
          <a:ln/>
        </p:spPr>
        <p:txBody>
          <a:bodyPr wrap="square" lIns="0" tIns="0" rIns="0" bIns="0" rtlCol="0" anchor="t">
            <a:normAutofit/>
          </a:bodyPr>
          <a:lstStyle/>
          <a:p>
            <a:pPr algn="l" indent="0" marL="0">
              <a:lnSpc>
                <a:spcPts val="2135"/>
              </a:lnSpc>
              <a:buNone/>
            </a:pPr>
            <a:r>
              <a:rPr lang="en-US" sz="1525" dirty="0">
                <a:solidFill>
                  <a:srgbClr val="111111"/>
                </a:solidFill>
                <a:latin typeface="DM Sans" pitchFamily="34" charset="0"/>
                <a:ea typeface="DM Sans" pitchFamily="34" charset="-122"/>
                <a:cs typeface="DM Sans" pitchFamily="34" charset="-120"/>
              </a:rPr>
              <a:t>19 November 2024 was the worst day of the test years: more than half of all arrivals were delayed, coded as aerodrome capacity.</a:t>
            </a:r>
            <a:endParaRPr lang="en-US" sz="1525" dirty="0"/>
          </a:p>
        </p:txBody>
      </p:sp>
      <p:sp>
        <p:nvSpPr>
          <p:cNvPr id="7" name="Text 3"/>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Share = arrivals delayed over 15 minutes ÷ arrivals · a day is disrupted from 2% · 16 delay causes, 20 weather and 10 history features per row</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8F6"/>
        </a:solidFill>
      </p:bgPr>
    </p:bg>
    <p:spTree>
      <p:nvGrpSpPr>
        <p:cNvPr id="1" name=""/>
        <p:cNvGrpSpPr/>
        <p:nvPr/>
      </p:nvGrpSpPr>
      <p:grpSpPr>
        <a:xfrm>
          <a:off x="0" y="0"/>
          <a:ext cx="0" cy="0"/>
          <a:chOff x="0" y="0"/>
          <a:chExt cx="0" cy="0"/>
        </a:xfrm>
      </p:grpSpPr>
      <p:sp>
        <p:nvSpPr>
          <p:cNvPr id="2" name="Text 0"/>
          <p:cNvSpPr/>
          <p:nvPr/>
        </p:nvSpPr>
        <p:spPr>
          <a:xfrm>
            <a:off x="812800" y="812800"/>
            <a:ext cx="10883392" cy="216198"/>
          </a:xfrm>
          <a:prstGeom prst="rect">
            <a:avLst/>
          </a:prstGeom>
          <a:noFill/>
          <a:ln/>
        </p:spPr>
        <p:txBody>
          <a:bodyPr wrap="square" lIns="0" tIns="0" rIns="0" bIns="0" rtlCol="0" anchor="t">
            <a:normAutofit/>
          </a:bodyPr>
          <a:lstStyle/>
          <a:p>
            <a:pPr algn="l" indent="0" marL="0">
              <a:lnSpc>
                <a:spcPts val="1523"/>
              </a:lnSpc>
              <a:buNone/>
            </a:pPr>
            <a:r>
              <a:rPr lang="en-US" sz="1088" b="1" spc="150" kern="0" dirty="0">
                <a:solidFill>
                  <a:srgbClr val="1F4FD8"/>
                </a:solidFill>
                <a:latin typeface="DM Sans" pitchFamily="34" charset="0"/>
                <a:ea typeface="DM Sans" pitchFamily="34" charset="-122"/>
                <a:cs typeface="DM Sans" pitchFamily="34" charset="-120"/>
              </a:rPr>
              <a:t>MODEL CHOICE</a:t>
            </a:r>
            <a:endParaRPr lang="en-US" sz="1088" dirty="0"/>
          </a:p>
        </p:txBody>
      </p:sp>
      <p:sp>
        <p:nvSpPr>
          <p:cNvPr id="3" name="Text 1"/>
          <p:cNvSpPr/>
          <p:nvPr>
            <p:ph type="title"/>
          </p:nvPr>
        </p:nvSpPr>
        <p:spPr>
          <a:xfrm>
            <a:off x="812800" y="1155998"/>
            <a:ext cx="10883392" cy="1025128"/>
          </a:xfrm>
          <a:prstGeom prst="rect">
            <a:avLst/>
          </a:prstGeom>
          <a:noFill/>
          <a:ln/>
        </p:spPr>
        <p:txBody>
          <a:bodyPr wrap="square" lIns="0" tIns="0" rIns="0" bIns="0" rtlCol="0" anchor="t">
            <a:normAutofit/>
          </a:bodyPr>
          <a:lstStyle/>
          <a:p>
            <a:pPr algn="l" indent="0" marL="0">
              <a:lnSpc>
                <a:spcPts val="3933"/>
              </a:lnSpc>
              <a:buNone/>
            </a:pPr>
            <a:r>
              <a:rPr lang="en-US" sz="3933" b="0" i="0" spc="50" kern="0" dirty="0">
                <a:solidFill>
                  <a:srgbClr val="111111"/>
                </a:solidFill>
                <a:latin typeface="Oswald" pitchFamily="34" charset="0"/>
                <a:ea typeface="Oswald" pitchFamily="34" charset="-122"/>
                <a:cs typeface="Oswald" pitchFamily="34" charset="-120"/>
              </a:rPr>
              <a:t>TWO LINEAR MODELS, TWO TREE MODELS, ONE HONEST SPLIT</a:t>
            </a:r>
            <a:endParaRPr lang="en-US" sz="3933" dirty="0"/>
          </a:p>
        </p:txBody>
      </p:sp>
      <p:pic>
        <p:nvPicPr>
          <p:cNvPr id="4" name="Image 0" descr="line">    </p:cNvPr>
          <p:cNvPicPr>
            <a:picLocks noChangeAspect="1"/>
          </p:cNvPicPr>
          <p:nvPr/>
        </p:nvPicPr>
        <p:blipFill>
          <a:blip r:embed="rId1"/>
          <a:srcRect l="0" r="0" t="0" b="0"/>
          <a:stretch/>
        </p:blipFill>
        <p:spPr>
          <a:xfrm>
            <a:off x="812800" y="2308126"/>
            <a:ext cx="1016000" cy="50800"/>
          </a:xfrm>
          <a:prstGeom prst="rect">
            <a:avLst/>
          </a:prstGeom>
        </p:spPr>
      </p:pic>
      <p:sp>
        <p:nvSpPr>
          <p:cNvPr id="5" name="Text 2"/>
          <p:cNvSpPr/>
          <p:nvPr/>
        </p:nvSpPr>
        <p:spPr>
          <a:xfrm>
            <a:off x="2641600" y="2612926"/>
            <a:ext cx="43428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5E5A"/>
                </a:solidFill>
                <a:latin typeface="DM Sans" pitchFamily="34" charset="0"/>
                <a:ea typeface="DM Sans" pitchFamily="34" charset="-122"/>
                <a:cs typeface="DM Sans" pitchFamily="34" charset="-120"/>
              </a:rPr>
              <a:t>SIMPLE AND LINEAR</a:t>
            </a:r>
            <a:endParaRPr lang="en-US" sz="1200" dirty="0"/>
          </a:p>
        </p:txBody>
      </p:sp>
      <p:sp>
        <p:nvSpPr>
          <p:cNvPr id="6" name="Text 3"/>
          <p:cNvSpPr/>
          <p:nvPr/>
        </p:nvSpPr>
        <p:spPr>
          <a:xfrm>
            <a:off x="7162800" y="2612926"/>
            <a:ext cx="43428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5E5A"/>
                </a:solidFill>
                <a:latin typeface="DM Sans" pitchFamily="34" charset="0"/>
                <a:ea typeface="DM Sans" pitchFamily="34" charset="-122"/>
                <a:cs typeface="DM Sans" pitchFamily="34" charset="-120"/>
              </a:rPr>
              <a:t>GRADIENT-BOOSTED TREES</a:t>
            </a:r>
            <a:endParaRPr lang="en-US" sz="1200" dirty="0"/>
          </a:p>
        </p:txBody>
      </p:sp>
      <p:sp>
        <p:nvSpPr>
          <p:cNvPr id="7" name="Shape 4"/>
          <p:cNvSpPr/>
          <p:nvPr/>
        </p:nvSpPr>
        <p:spPr>
          <a:xfrm>
            <a:off x="812800" y="2931021"/>
            <a:ext cx="1524000" cy="0"/>
          </a:xfrm>
          <a:prstGeom prst="line">
            <a:avLst/>
          </a:prstGeom>
          <a:noFill/>
          <a:ln w="6350">
            <a:solidFill>
              <a:srgbClr val="D9D8D2"/>
            </a:solidFill>
            <a:prstDash val="solid"/>
          </a:ln>
        </p:spPr>
      </p:sp>
      <p:sp>
        <p:nvSpPr>
          <p:cNvPr id="8" name="Text 5"/>
          <p:cNvSpPr/>
          <p:nvPr/>
        </p:nvSpPr>
        <p:spPr>
          <a:xfrm>
            <a:off x="812800" y="3086596"/>
            <a:ext cx="15748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F4FD8"/>
                </a:solidFill>
                <a:latin typeface="Oswald" pitchFamily="34" charset="0"/>
                <a:ea typeface="Oswald" pitchFamily="34" charset="-122"/>
                <a:cs typeface="Oswald" pitchFamily="34" charset="-120"/>
              </a:rPr>
              <a:t>RISK</a:t>
            </a:r>
            <a:endParaRPr lang="en-US" sz="2400" dirty="0"/>
          </a:p>
        </p:txBody>
      </p:sp>
      <p:sp>
        <p:nvSpPr>
          <p:cNvPr id="9" name="Text 6"/>
          <p:cNvSpPr/>
          <p:nvPr/>
        </p:nvSpPr>
        <p:spPr>
          <a:xfrm>
            <a:off x="812800" y="3391396"/>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disrupted, yes or no</a:t>
            </a:r>
            <a:endParaRPr lang="en-US" sz="1200" dirty="0"/>
          </a:p>
        </p:txBody>
      </p:sp>
      <p:sp>
        <p:nvSpPr>
          <p:cNvPr id="10" name="Shape 7"/>
          <p:cNvSpPr/>
          <p:nvPr/>
        </p:nvSpPr>
        <p:spPr>
          <a:xfrm>
            <a:off x="2641600" y="2931021"/>
            <a:ext cx="4216400" cy="0"/>
          </a:xfrm>
          <a:prstGeom prst="line">
            <a:avLst/>
          </a:prstGeom>
          <a:noFill/>
          <a:ln w="6350">
            <a:solidFill>
              <a:srgbClr val="D9D8D2"/>
            </a:solidFill>
            <a:prstDash val="solid"/>
          </a:ln>
        </p:spPr>
      </p:sp>
      <p:sp>
        <p:nvSpPr>
          <p:cNvPr id="11" name="Text 8"/>
          <p:cNvSpPr/>
          <p:nvPr/>
        </p:nvSpPr>
        <p:spPr>
          <a:xfrm>
            <a:off x="2641600" y="3086596"/>
            <a:ext cx="4342892" cy="289719"/>
          </a:xfrm>
          <a:prstGeom prst="rect">
            <a:avLst/>
          </a:prstGeom>
          <a:noFill/>
          <a:ln/>
        </p:spPr>
        <p:txBody>
          <a:bodyPr wrap="square" lIns="0" tIns="0" rIns="0" bIns="0" rtlCol="0" anchor="t">
            <a:normAutofit/>
          </a:bodyPr>
          <a:lstStyle/>
          <a:p>
            <a:pPr algn="l" indent="0" marL="0">
              <a:lnSpc>
                <a:spcPts val="2123"/>
              </a:lnSpc>
              <a:buNone/>
            </a:pPr>
            <a:r>
              <a:rPr lang="en-US" sz="2123" dirty="0">
                <a:solidFill>
                  <a:srgbClr val="111111"/>
                </a:solidFill>
                <a:latin typeface="Oswald" pitchFamily="34" charset="0"/>
                <a:ea typeface="Oswald" pitchFamily="34" charset="-122"/>
                <a:cs typeface="Oswald" pitchFamily="34" charset="-120"/>
              </a:rPr>
              <a:t>Logistic regression</a:t>
            </a:r>
            <a:endParaRPr lang="en-US" sz="2123" dirty="0"/>
          </a:p>
        </p:txBody>
      </p:sp>
      <p:sp>
        <p:nvSpPr>
          <p:cNvPr id="12" name="Text 9"/>
          <p:cNvSpPr/>
          <p:nvPr/>
        </p:nvSpPr>
        <p:spPr>
          <a:xfrm>
            <a:off x="2641600" y="3401715"/>
            <a:ext cx="4342892" cy="5188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5E5A"/>
                </a:solidFill>
                <a:latin typeface="DM Sans" pitchFamily="34" charset="0"/>
                <a:ea typeface="DM Sans" pitchFamily="34" charset="-122"/>
                <a:cs typeface="DM Sans" pitchFamily="34" charset="-120"/>
              </a:rPr>
              <a:t>One readable weight per input. Fast and easy to explain.</a:t>
            </a:r>
            <a:endParaRPr lang="en-US" sz="1400" dirty="0"/>
          </a:p>
        </p:txBody>
      </p:sp>
      <p:sp>
        <p:nvSpPr>
          <p:cNvPr id="13" name="Shape 10"/>
          <p:cNvSpPr/>
          <p:nvPr/>
        </p:nvSpPr>
        <p:spPr>
          <a:xfrm>
            <a:off x="7162800" y="2931021"/>
            <a:ext cx="4216400" cy="0"/>
          </a:xfrm>
          <a:prstGeom prst="line">
            <a:avLst/>
          </a:prstGeom>
          <a:noFill/>
          <a:ln w="6350">
            <a:solidFill>
              <a:srgbClr val="D9D8D2"/>
            </a:solidFill>
            <a:prstDash val="solid"/>
          </a:ln>
        </p:spPr>
      </p:sp>
      <p:sp>
        <p:nvSpPr>
          <p:cNvPr id="14" name="Text 11"/>
          <p:cNvSpPr/>
          <p:nvPr/>
        </p:nvSpPr>
        <p:spPr>
          <a:xfrm>
            <a:off x="7162800" y="3086596"/>
            <a:ext cx="4342892" cy="289719"/>
          </a:xfrm>
          <a:prstGeom prst="rect">
            <a:avLst/>
          </a:prstGeom>
          <a:noFill/>
          <a:ln/>
        </p:spPr>
        <p:txBody>
          <a:bodyPr wrap="square" lIns="0" tIns="0" rIns="0" bIns="0" rtlCol="0" anchor="t">
            <a:normAutofit/>
          </a:bodyPr>
          <a:lstStyle/>
          <a:p>
            <a:pPr algn="l" indent="0" marL="0">
              <a:lnSpc>
                <a:spcPts val="2123"/>
              </a:lnSpc>
              <a:buNone/>
            </a:pPr>
            <a:r>
              <a:rPr lang="en-US" sz="2123" dirty="0">
                <a:solidFill>
                  <a:srgbClr val="111111"/>
                </a:solidFill>
                <a:latin typeface="Oswald" pitchFamily="34" charset="0"/>
                <a:ea typeface="Oswald" pitchFamily="34" charset="-122"/>
                <a:cs typeface="Oswald" pitchFamily="34" charset="-120"/>
              </a:rPr>
              <a:t>LightGBM classifier</a:t>
            </a:r>
            <a:endParaRPr lang="en-US" sz="2123" dirty="0"/>
          </a:p>
        </p:txBody>
      </p:sp>
      <p:sp>
        <p:nvSpPr>
          <p:cNvPr id="15" name="Text 12"/>
          <p:cNvSpPr/>
          <p:nvPr/>
        </p:nvSpPr>
        <p:spPr>
          <a:xfrm>
            <a:off x="7162800" y="3401715"/>
            <a:ext cx="4342892" cy="5188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5E5A"/>
                </a:solidFill>
                <a:latin typeface="DM Sans" pitchFamily="34" charset="0"/>
                <a:ea typeface="DM Sans" pitchFamily="34" charset="-122"/>
                <a:cs typeface="DM Sans" pitchFamily="34" charset="-120"/>
              </a:rPr>
              <a:t>Learns thresholds and combinations, like storms that only hurt busy hubs.</a:t>
            </a:r>
            <a:endParaRPr lang="en-US" sz="1400" dirty="0"/>
          </a:p>
        </p:txBody>
      </p:sp>
      <p:sp>
        <p:nvSpPr>
          <p:cNvPr id="16" name="Shape 13"/>
          <p:cNvSpPr/>
          <p:nvPr/>
        </p:nvSpPr>
        <p:spPr>
          <a:xfrm>
            <a:off x="812800" y="4050705"/>
            <a:ext cx="1524000" cy="0"/>
          </a:xfrm>
          <a:prstGeom prst="line">
            <a:avLst/>
          </a:prstGeom>
          <a:noFill/>
          <a:ln w="6350">
            <a:solidFill>
              <a:srgbClr val="D9D8D2"/>
            </a:solidFill>
            <a:prstDash val="solid"/>
          </a:ln>
        </p:spPr>
      </p:sp>
      <p:sp>
        <p:nvSpPr>
          <p:cNvPr id="17" name="Text 14"/>
          <p:cNvSpPr/>
          <p:nvPr/>
        </p:nvSpPr>
        <p:spPr>
          <a:xfrm>
            <a:off x="812800" y="4206280"/>
            <a:ext cx="15748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F4FD8"/>
                </a:solidFill>
                <a:latin typeface="Oswald" pitchFamily="34" charset="0"/>
                <a:ea typeface="Oswald" pitchFamily="34" charset="-122"/>
                <a:cs typeface="Oswald" pitchFamily="34" charset="-120"/>
              </a:rPr>
              <a:t>SEVERITY</a:t>
            </a:r>
            <a:endParaRPr lang="en-US" sz="2400" dirty="0"/>
          </a:p>
        </p:txBody>
      </p:sp>
      <p:sp>
        <p:nvSpPr>
          <p:cNvPr id="18" name="Text 15"/>
          <p:cNvSpPr/>
          <p:nvPr/>
        </p:nvSpPr>
        <p:spPr>
          <a:xfrm>
            <a:off x="812800" y="4511080"/>
            <a:ext cx="1574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delay minutes per arrival</a:t>
            </a:r>
            <a:endParaRPr lang="en-US" sz="1200" dirty="0"/>
          </a:p>
        </p:txBody>
      </p:sp>
      <p:sp>
        <p:nvSpPr>
          <p:cNvPr id="19" name="Shape 16"/>
          <p:cNvSpPr/>
          <p:nvPr/>
        </p:nvSpPr>
        <p:spPr>
          <a:xfrm>
            <a:off x="2641600" y="4050705"/>
            <a:ext cx="4216400" cy="0"/>
          </a:xfrm>
          <a:prstGeom prst="line">
            <a:avLst/>
          </a:prstGeom>
          <a:noFill/>
          <a:ln w="6350">
            <a:solidFill>
              <a:srgbClr val="D9D8D2"/>
            </a:solidFill>
            <a:prstDash val="solid"/>
          </a:ln>
        </p:spPr>
      </p:sp>
      <p:sp>
        <p:nvSpPr>
          <p:cNvPr id="20" name="Text 17"/>
          <p:cNvSpPr/>
          <p:nvPr/>
        </p:nvSpPr>
        <p:spPr>
          <a:xfrm>
            <a:off x="2641600" y="4206280"/>
            <a:ext cx="4342892" cy="289719"/>
          </a:xfrm>
          <a:prstGeom prst="rect">
            <a:avLst/>
          </a:prstGeom>
          <a:noFill/>
          <a:ln/>
        </p:spPr>
        <p:txBody>
          <a:bodyPr wrap="square" lIns="0" tIns="0" rIns="0" bIns="0" rtlCol="0" anchor="t">
            <a:normAutofit/>
          </a:bodyPr>
          <a:lstStyle/>
          <a:p>
            <a:pPr algn="l" indent="0" marL="0">
              <a:lnSpc>
                <a:spcPts val="2123"/>
              </a:lnSpc>
              <a:buNone/>
            </a:pPr>
            <a:r>
              <a:rPr lang="en-US" sz="2123" dirty="0">
                <a:solidFill>
                  <a:srgbClr val="111111"/>
                </a:solidFill>
                <a:latin typeface="Oswald" pitchFamily="34" charset="0"/>
                <a:ea typeface="Oswald" pitchFamily="34" charset="-122"/>
                <a:cs typeface="Oswald" pitchFamily="34" charset="-120"/>
              </a:rPr>
              <a:t>Ridge regression</a:t>
            </a:r>
            <a:endParaRPr lang="en-US" sz="2123" dirty="0"/>
          </a:p>
        </p:txBody>
      </p:sp>
      <p:sp>
        <p:nvSpPr>
          <p:cNvPr id="21" name="Text 18"/>
          <p:cNvSpPr/>
          <p:nvPr/>
        </p:nvSpPr>
        <p:spPr>
          <a:xfrm>
            <a:off x="2641600" y="4521398"/>
            <a:ext cx="4342892" cy="5188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5E5A"/>
                </a:solidFill>
                <a:latin typeface="DM Sans" pitchFamily="34" charset="0"/>
                <a:ea typeface="DM Sans" pitchFamily="34" charset="-122"/>
                <a:cs typeface="DM Sans" pitchFamily="34" charset="-120"/>
              </a:rPr>
              <a:t>Linear with a penalty, so overlapping history features stay calm.</a:t>
            </a:r>
            <a:endParaRPr lang="en-US" sz="1400" dirty="0"/>
          </a:p>
        </p:txBody>
      </p:sp>
      <p:sp>
        <p:nvSpPr>
          <p:cNvPr id="22" name="Shape 19"/>
          <p:cNvSpPr/>
          <p:nvPr/>
        </p:nvSpPr>
        <p:spPr>
          <a:xfrm>
            <a:off x="7162800" y="4050705"/>
            <a:ext cx="4216400" cy="0"/>
          </a:xfrm>
          <a:prstGeom prst="line">
            <a:avLst/>
          </a:prstGeom>
          <a:noFill/>
          <a:ln w="6350">
            <a:solidFill>
              <a:srgbClr val="D9D8D2"/>
            </a:solidFill>
            <a:prstDash val="solid"/>
          </a:ln>
        </p:spPr>
      </p:sp>
      <p:sp>
        <p:nvSpPr>
          <p:cNvPr id="23" name="Text 20"/>
          <p:cNvSpPr/>
          <p:nvPr/>
        </p:nvSpPr>
        <p:spPr>
          <a:xfrm>
            <a:off x="7162800" y="4206280"/>
            <a:ext cx="4342892" cy="289719"/>
          </a:xfrm>
          <a:prstGeom prst="rect">
            <a:avLst/>
          </a:prstGeom>
          <a:noFill/>
          <a:ln/>
        </p:spPr>
        <p:txBody>
          <a:bodyPr wrap="square" lIns="0" tIns="0" rIns="0" bIns="0" rtlCol="0" anchor="t">
            <a:normAutofit/>
          </a:bodyPr>
          <a:lstStyle/>
          <a:p>
            <a:pPr algn="l" indent="0" marL="0">
              <a:lnSpc>
                <a:spcPts val="2123"/>
              </a:lnSpc>
              <a:buNone/>
            </a:pPr>
            <a:r>
              <a:rPr lang="en-US" sz="2123" dirty="0">
                <a:solidFill>
                  <a:srgbClr val="111111"/>
                </a:solidFill>
                <a:latin typeface="Oswald" pitchFamily="34" charset="0"/>
                <a:ea typeface="Oswald" pitchFamily="34" charset="-122"/>
                <a:cs typeface="Oswald" pitchFamily="34" charset="-120"/>
              </a:rPr>
              <a:t>LightGBM, Tweedie</a:t>
            </a:r>
            <a:endParaRPr lang="en-US" sz="2123" dirty="0"/>
          </a:p>
        </p:txBody>
      </p:sp>
      <p:sp>
        <p:nvSpPr>
          <p:cNvPr id="24" name="Text 21"/>
          <p:cNvSpPr/>
          <p:nvPr/>
        </p:nvSpPr>
        <p:spPr>
          <a:xfrm>
            <a:off x="7162800" y="4521398"/>
            <a:ext cx="4342892" cy="518815"/>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F5E5A"/>
                </a:solidFill>
                <a:latin typeface="DM Sans" pitchFamily="34" charset="0"/>
                <a:ea typeface="DM Sans" pitchFamily="34" charset="-122"/>
                <a:cs typeface="DM Sans" pitchFamily="34" charset="-120"/>
              </a:rPr>
              <a:t>Made for targets that are mostly zero with a long tail.</a:t>
            </a:r>
            <a:endParaRPr lang="en-US" sz="1400" dirty="0"/>
          </a:p>
        </p:txBody>
      </p:sp>
      <p:sp>
        <p:nvSpPr>
          <p:cNvPr id="25" name="Shape 22"/>
          <p:cNvSpPr/>
          <p:nvPr/>
        </p:nvSpPr>
        <p:spPr>
          <a:xfrm>
            <a:off x="812800" y="5446613"/>
            <a:ext cx="4483844" cy="0"/>
          </a:xfrm>
          <a:prstGeom prst="line">
            <a:avLst/>
          </a:prstGeom>
          <a:noFill/>
          <a:ln w="50800">
            <a:solidFill>
              <a:srgbClr val="C9C8C2"/>
            </a:solidFill>
            <a:prstDash val="solid"/>
          </a:ln>
        </p:spPr>
      </p:sp>
      <p:sp>
        <p:nvSpPr>
          <p:cNvPr id="26" name="Text 23"/>
          <p:cNvSpPr/>
          <p:nvPr/>
        </p:nvSpPr>
        <p:spPr>
          <a:xfrm>
            <a:off x="812800" y="5573613"/>
            <a:ext cx="4618359" cy="202952"/>
          </a:xfrm>
          <a:prstGeom prst="rect">
            <a:avLst/>
          </a:prstGeom>
          <a:noFill/>
          <a:ln/>
        </p:spPr>
        <p:txBody>
          <a:bodyPr wrap="square" lIns="0" tIns="0" rIns="0" bIns="0" rtlCol="0" anchor="t">
            <a:normAutofit/>
          </a:bodyPr>
          <a:lstStyle/>
          <a:p>
            <a:pPr algn="l" indent="0" marL="0">
              <a:lnSpc>
                <a:spcPts val="1423"/>
              </a:lnSpc>
              <a:buNone/>
            </a:pPr>
            <a:r>
              <a:rPr lang="en-US" sz="1016" b="1" dirty="0">
                <a:solidFill>
                  <a:srgbClr val="111111"/>
                </a:solidFill>
                <a:latin typeface="DM Sans" pitchFamily="34" charset="0"/>
                <a:ea typeface="DM Sans" pitchFamily="34" charset="-122"/>
                <a:cs typeface="DM Sans" pitchFamily="34" charset="-120"/>
              </a:rPr>
              <a:t>Train 2014–2021</a:t>
            </a:r>
            <a:endParaRPr lang="en-US" sz="1016" dirty="0"/>
          </a:p>
        </p:txBody>
      </p:sp>
      <p:sp>
        <p:nvSpPr>
          <p:cNvPr id="27" name="Shape 24"/>
          <p:cNvSpPr/>
          <p:nvPr/>
        </p:nvSpPr>
        <p:spPr>
          <a:xfrm>
            <a:off x="5347444" y="5446613"/>
            <a:ext cx="1880295" cy="0"/>
          </a:xfrm>
          <a:prstGeom prst="line">
            <a:avLst/>
          </a:prstGeom>
          <a:noFill/>
          <a:ln w="50800">
            <a:solidFill>
              <a:srgbClr val="C9C8C2"/>
            </a:solidFill>
            <a:prstDash val="solid"/>
          </a:ln>
        </p:spPr>
      </p:sp>
      <p:sp>
        <p:nvSpPr>
          <p:cNvPr id="28" name="Text 25"/>
          <p:cNvSpPr/>
          <p:nvPr/>
        </p:nvSpPr>
        <p:spPr>
          <a:xfrm>
            <a:off x="5347444" y="5573613"/>
            <a:ext cx="1936703" cy="202952"/>
          </a:xfrm>
          <a:prstGeom prst="rect">
            <a:avLst/>
          </a:prstGeom>
          <a:noFill/>
          <a:ln/>
        </p:spPr>
        <p:txBody>
          <a:bodyPr wrap="square" lIns="0" tIns="0" rIns="0" bIns="0" rtlCol="0" anchor="t">
            <a:normAutofit/>
          </a:bodyPr>
          <a:lstStyle/>
          <a:p>
            <a:pPr algn="l" indent="0" marL="0">
              <a:lnSpc>
                <a:spcPts val="1423"/>
              </a:lnSpc>
              <a:buNone/>
            </a:pPr>
            <a:r>
              <a:rPr lang="en-US" sz="1016" b="1" dirty="0">
                <a:solidFill>
                  <a:srgbClr val="111111"/>
                </a:solidFill>
                <a:latin typeface="DM Sans" pitchFamily="34" charset="0"/>
                <a:ea typeface="DM Sans" pitchFamily="34" charset="-122"/>
                <a:cs typeface="DM Sans" pitchFamily="34" charset="-120"/>
              </a:rPr>
              <a:t>Tune + calibrate 2022</a:t>
            </a:r>
            <a:endParaRPr lang="en-US" sz="1016" dirty="0"/>
          </a:p>
        </p:txBody>
      </p:sp>
      <p:sp>
        <p:nvSpPr>
          <p:cNvPr id="29" name="Shape 26"/>
          <p:cNvSpPr/>
          <p:nvPr/>
        </p:nvSpPr>
        <p:spPr>
          <a:xfrm>
            <a:off x="7278539" y="5446613"/>
            <a:ext cx="1880295" cy="0"/>
          </a:xfrm>
          <a:prstGeom prst="line">
            <a:avLst/>
          </a:prstGeom>
          <a:noFill/>
          <a:ln w="50800">
            <a:solidFill>
              <a:srgbClr val="C9C8C2"/>
            </a:solidFill>
            <a:prstDash val="solid"/>
          </a:ln>
        </p:spPr>
      </p:sp>
      <p:sp>
        <p:nvSpPr>
          <p:cNvPr id="30" name="Text 27"/>
          <p:cNvSpPr/>
          <p:nvPr/>
        </p:nvSpPr>
        <p:spPr>
          <a:xfrm>
            <a:off x="7278539" y="5573613"/>
            <a:ext cx="1936703" cy="202952"/>
          </a:xfrm>
          <a:prstGeom prst="rect">
            <a:avLst/>
          </a:prstGeom>
          <a:noFill/>
          <a:ln/>
        </p:spPr>
        <p:txBody>
          <a:bodyPr wrap="square" lIns="0" tIns="0" rIns="0" bIns="0" rtlCol="0" anchor="t">
            <a:normAutofit/>
          </a:bodyPr>
          <a:lstStyle/>
          <a:p>
            <a:pPr algn="l" indent="0" marL="0">
              <a:lnSpc>
                <a:spcPts val="1423"/>
              </a:lnSpc>
              <a:buNone/>
            </a:pPr>
            <a:r>
              <a:rPr lang="en-US" sz="1016" b="1" dirty="0">
                <a:solidFill>
                  <a:srgbClr val="111111"/>
                </a:solidFill>
                <a:latin typeface="DM Sans" pitchFamily="34" charset="0"/>
                <a:ea typeface="DM Sans" pitchFamily="34" charset="-122"/>
                <a:cs typeface="DM Sans" pitchFamily="34" charset="-120"/>
              </a:rPr>
              <a:t>Pick threshold 2023</a:t>
            </a:r>
            <a:endParaRPr lang="en-US" sz="1016" dirty="0"/>
          </a:p>
        </p:txBody>
      </p:sp>
      <p:sp>
        <p:nvSpPr>
          <p:cNvPr id="31" name="Shape 28"/>
          <p:cNvSpPr/>
          <p:nvPr/>
        </p:nvSpPr>
        <p:spPr>
          <a:xfrm>
            <a:off x="9209633" y="5446613"/>
            <a:ext cx="2169567" cy="0"/>
          </a:xfrm>
          <a:prstGeom prst="line">
            <a:avLst/>
          </a:prstGeom>
          <a:noFill/>
          <a:ln w="50800">
            <a:solidFill>
              <a:srgbClr val="1F4FD8"/>
            </a:solidFill>
            <a:prstDash val="solid"/>
          </a:ln>
        </p:spPr>
      </p:sp>
      <p:sp>
        <p:nvSpPr>
          <p:cNvPr id="32" name="Text 29"/>
          <p:cNvSpPr/>
          <p:nvPr/>
        </p:nvSpPr>
        <p:spPr>
          <a:xfrm>
            <a:off x="9209633" y="5573613"/>
            <a:ext cx="2234654" cy="202952"/>
          </a:xfrm>
          <a:prstGeom prst="rect">
            <a:avLst/>
          </a:prstGeom>
          <a:noFill/>
          <a:ln/>
        </p:spPr>
        <p:txBody>
          <a:bodyPr wrap="square" lIns="0" tIns="0" rIns="0" bIns="0" rtlCol="0" anchor="t">
            <a:normAutofit/>
          </a:bodyPr>
          <a:lstStyle/>
          <a:p>
            <a:pPr algn="l" indent="0" marL="0">
              <a:lnSpc>
                <a:spcPts val="1423"/>
              </a:lnSpc>
              <a:buNone/>
            </a:pPr>
            <a:r>
              <a:rPr lang="en-US" sz="1016" b="1" dirty="0">
                <a:solidFill>
                  <a:srgbClr val="1F4FD8"/>
                </a:solidFill>
                <a:latin typeface="DM Sans" pitchFamily="34" charset="0"/>
                <a:ea typeface="DM Sans" pitchFamily="34" charset="-122"/>
                <a:cs typeface="DM Sans" pitchFamily="34" charset="-120"/>
              </a:rPr>
              <a:t>Test 2024–25, scored once</a:t>
            </a:r>
            <a:endParaRPr lang="en-US" sz="1016" dirty="0"/>
          </a:p>
        </p:txBody>
      </p:sp>
      <p:sp>
        <p:nvSpPr>
          <p:cNvPr id="33" name="Text 30"/>
          <p:cNvSpPr/>
          <p:nvPr/>
        </p:nvSpPr>
        <p:spPr>
          <a:xfrm>
            <a:off x="812800" y="5852765"/>
            <a:ext cx="10883392" cy="217835"/>
          </a:xfrm>
          <a:prstGeom prst="rect">
            <a:avLst/>
          </a:prstGeom>
          <a:noFill/>
          <a:ln/>
        </p:spPr>
        <p:txBody>
          <a:bodyPr wrap="square" lIns="0" tIns="0" rIns="0" bIns="0" rtlCol="0" anchor="t">
            <a:normAutofit/>
          </a:bodyPr>
          <a:lstStyle/>
          <a:p>
            <a:pPr algn="l" indent="0" marL="0">
              <a:lnSpc>
                <a:spcPts val="1523"/>
              </a:lnSpc>
              <a:buNone/>
            </a:pPr>
            <a:r>
              <a:rPr lang="en-US" sz="1088" dirty="0">
                <a:solidFill>
                  <a:srgbClr val="5F5E5A"/>
                </a:solidFill>
                <a:latin typeface="DM Sans" pitchFamily="34" charset="0"/>
                <a:ea typeface="DM Sans" pitchFamily="34" charset="-122"/>
                <a:cs typeface="DM Sans" pitchFamily="34" charset="-120"/>
              </a:rPr>
              <a:t>Split by time, never shuffled. Each model has to beat a simple rule: the last 28 days.</a:t>
            </a:r>
            <a:endParaRPr lang="en-US" sz="1088"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8F6"/>
        </a:solidFill>
      </p:bgPr>
    </p:bg>
    <p:spTree>
      <p:nvGrpSpPr>
        <p:cNvPr id="1" name=""/>
        <p:cNvGrpSpPr/>
        <p:nvPr/>
      </p:nvGrpSpPr>
      <p:grpSpPr>
        <a:xfrm>
          <a:off x="0" y="0"/>
          <a:ext cx="0" cy="0"/>
          <a:chOff x="0" y="0"/>
          <a:chExt cx="0" cy="0"/>
        </a:xfrm>
      </p:grpSpPr>
      <p:pic>
        <p:nvPicPr>
          <p:cNvPr id="2" name="Image 0" descr="Precision-recall curves for 2024-2025: LightGBM AP 0.39, logistic regression AP 0.38, previous 28-day rate AP 0.24, base rate 0.061">    </p:cNvPr>
          <p:cNvPicPr>
            <a:picLocks noChangeAspect="1"/>
          </p:cNvPicPr>
          <p:nvPr/>
        </p:nvPicPr>
        <p:blipFill>
          <a:blip r:embed="rId1"/>
          <a:srcRect l="-117" r="-117" t="0" b="0"/>
          <a:stretch/>
        </p:blipFill>
        <p:spPr>
          <a:xfrm>
            <a:off x="812800" y="1387475"/>
            <a:ext cx="5080000" cy="3879850"/>
          </a:xfrm>
          <a:prstGeom prst="rect">
            <a:avLst/>
          </a:prstGeom>
        </p:spPr>
      </p:pic>
      <p:sp>
        <p:nvSpPr>
          <p:cNvPr id="3" name="Text 0"/>
          <p:cNvSpPr/>
          <p:nvPr/>
        </p:nvSpPr>
        <p:spPr>
          <a:xfrm>
            <a:off x="6299200" y="812800"/>
            <a:ext cx="5232400" cy="23604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1F4FD8"/>
                </a:solidFill>
                <a:latin typeface="DM Sans" pitchFamily="34" charset="0"/>
                <a:ea typeface="DM Sans" pitchFamily="34" charset="-122"/>
                <a:cs typeface="DM Sans" pitchFamily="34" charset="-120"/>
              </a:rPr>
              <a:t>RESULTS · TEST YEARS 2024–25</a:t>
            </a:r>
            <a:endParaRPr lang="en-US" sz="1196" dirty="0"/>
          </a:p>
        </p:txBody>
      </p:sp>
      <p:sp>
        <p:nvSpPr>
          <p:cNvPr id="4" name="Text 1"/>
          <p:cNvSpPr/>
          <p:nvPr>
            <p:ph type="title"/>
          </p:nvPr>
        </p:nvSpPr>
        <p:spPr>
          <a:xfrm>
            <a:off x="6299200" y="1175841"/>
            <a:ext cx="5232400" cy="1129109"/>
          </a:xfrm>
          <a:prstGeom prst="rect">
            <a:avLst/>
          </a:prstGeom>
          <a:noFill/>
          <a:ln/>
        </p:spPr>
        <p:txBody>
          <a:bodyPr wrap="square" lIns="0" tIns="0" rIns="0" bIns="0" rtlCol="0" anchor="t">
            <a:normAutofit/>
          </a:bodyPr>
          <a:lstStyle/>
          <a:p>
            <a:pPr algn="l" indent="0" marL="0">
              <a:lnSpc>
                <a:spcPts val="4359"/>
              </a:lnSpc>
              <a:buNone/>
            </a:pPr>
            <a:r>
              <a:rPr lang="en-US" sz="4359" b="0" i="0" spc="50" kern="0" dirty="0">
                <a:solidFill>
                  <a:srgbClr val="111111"/>
                </a:solidFill>
                <a:latin typeface="Oswald" pitchFamily="34" charset="0"/>
                <a:ea typeface="Oswald" pitchFamily="34" charset="-122"/>
                <a:cs typeface="Oswald" pitchFamily="34" charset="-120"/>
              </a:rPr>
              <a:t>LIGHTGBM BEATS THE 28-DAY RULE</a:t>
            </a:r>
            <a:endParaRPr lang="en-US" sz="4359" dirty="0"/>
          </a:p>
        </p:txBody>
      </p:sp>
      <p:pic>
        <p:nvPicPr>
          <p:cNvPr id="5" name="Image 1" descr="line">    </p:cNvPr>
          <p:cNvPicPr>
            <a:picLocks noChangeAspect="1"/>
          </p:cNvPicPr>
          <p:nvPr/>
        </p:nvPicPr>
        <p:blipFill>
          <a:blip r:embed="rId2"/>
          <a:srcRect l="0" r="0" t="0" b="0"/>
          <a:stretch/>
        </p:blipFill>
        <p:spPr>
          <a:xfrm>
            <a:off x="6299200" y="2431951"/>
            <a:ext cx="1016000" cy="50800"/>
          </a:xfrm>
          <a:prstGeom prst="rect">
            <a:avLst/>
          </a:prstGeom>
        </p:spPr>
      </p:pic>
      <p:sp>
        <p:nvSpPr>
          <p:cNvPr id="6" name="Text 2"/>
          <p:cNvSpPr/>
          <p:nvPr/>
        </p:nvSpPr>
        <p:spPr>
          <a:xfrm>
            <a:off x="6299200" y="2635151"/>
            <a:ext cx="5232400" cy="587226"/>
          </a:xfrm>
          <a:prstGeom prst="rect">
            <a:avLst/>
          </a:prstGeom>
          <a:noFill/>
          <a:ln/>
        </p:spPr>
        <p:txBody>
          <a:bodyPr wrap="square" lIns="0" tIns="0" rIns="0" bIns="0" rtlCol="0" anchor="t">
            <a:normAutofit/>
          </a:bodyPr>
          <a:lstStyle/>
          <a:p>
            <a:pPr algn="l" indent="0" marL="0">
              <a:lnSpc>
                <a:spcPts val="2212"/>
              </a:lnSpc>
              <a:buNone/>
            </a:pPr>
            <a:r>
              <a:rPr lang="en-US" sz="1580" dirty="0">
                <a:solidFill>
                  <a:srgbClr val="5F5E5A"/>
                </a:solidFill>
                <a:latin typeface="DM Sans" pitchFamily="34" charset="0"/>
                <a:ea typeface="DM Sans" pitchFamily="34" charset="-122"/>
                <a:cs typeface="DM Sans" pitchFamily="34" charset="-120"/>
              </a:rPr>
              <a:t>Average precision 0.39 against 0.24, on 8,771 airport-days scored once.</a:t>
            </a:r>
            <a:endParaRPr lang="en-US" sz="1580" dirty="0"/>
          </a:p>
        </p:txBody>
      </p:sp>
      <p:sp>
        <p:nvSpPr>
          <p:cNvPr id="7" name="Shape 3"/>
          <p:cNvSpPr/>
          <p:nvPr/>
        </p:nvSpPr>
        <p:spPr>
          <a:xfrm>
            <a:off x="6299200" y="3200152"/>
            <a:ext cx="5080000" cy="0"/>
          </a:xfrm>
          <a:prstGeom prst="line">
            <a:avLst/>
          </a:prstGeom>
          <a:noFill/>
          <a:ln w="6350">
            <a:solidFill>
              <a:srgbClr val="D9D8D2"/>
            </a:solidFill>
            <a:prstDash val="solid"/>
          </a:ln>
        </p:spPr>
      </p:sp>
      <p:sp>
        <p:nvSpPr>
          <p:cNvPr id="8" name="Text 4"/>
          <p:cNvSpPr/>
          <p:nvPr/>
        </p:nvSpPr>
        <p:spPr>
          <a:xfrm>
            <a:off x="6299200" y="3330327"/>
            <a:ext cx="10033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11111"/>
                </a:solidFill>
                <a:latin typeface="Oswald" pitchFamily="34" charset="0"/>
                <a:ea typeface="Oswald" pitchFamily="34" charset="-122"/>
                <a:cs typeface="Oswald" pitchFamily="34" charset="-120"/>
              </a:rPr>
              <a:t>50%</a:t>
            </a:r>
            <a:endParaRPr lang="en-US" sz="2400" dirty="0"/>
          </a:p>
        </p:txBody>
      </p:sp>
      <p:sp>
        <p:nvSpPr>
          <p:cNvPr id="9" name="Text 5"/>
          <p:cNvSpPr/>
          <p:nvPr/>
        </p:nvSpPr>
        <p:spPr>
          <a:xfrm>
            <a:off x="7404100" y="3460502"/>
            <a:ext cx="397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of disrupted days caught at the 0.20 alert threshold</a:t>
            </a:r>
            <a:endParaRPr lang="en-US" sz="1200" dirty="0"/>
          </a:p>
        </p:txBody>
      </p:sp>
      <p:sp>
        <p:nvSpPr>
          <p:cNvPr id="10" name="Shape 6"/>
          <p:cNvSpPr/>
          <p:nvPr/>
        </p:nvSpPr>
        <p:spPr>
          <a:xfrm>
            <a:off x="6299200" y="3798044"/>
            <a:ext cx="5080000" cy="0"/>
          </a:xfrm>
          <a:prstGeom prst="line">
            <a:avLst/>
          </a:prstGeom>
          <a:noFill/>
          <a:ln w="6350">
            <a:solidFill>
              <a:srgbClr val="D9D8D2"/>
            </a:solidFill>
            <a:prstDash val="solid"/>
          </a:ln>
        </p:spPr>
      </p:sp>
      <p:sp>
        <p:nvSpPr>
          <p:cNvPr id="11" name="Text 7"/>
          <p:cNvSpPr/>
          <p:nvPr/>
        </p:nvSpPr>
        <p:spPr>
          <a:xfrm>
            <a:off x="6299200" y="3928219"/>
            <a:ext cx="10033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11111"/>
                </a:solidFill>
                <a:latin typeface="Oswald" pitchFamily="34" charset="0"/>
                <a:ea typeface="Oswald" pitchFamily="34" charset="-122"/>
                <a:cs typeface="Oswald" pitchFamily="34" charset="-120"/>
              </a:rPr>
              <a:t>0.63</a:t>
            </a:r>
            <a:endParaRPr lang="en-US" sz="2400" dirty="0"/>
          </a:p>
        </p:txBody>
      </p:sp>
      <p:sp>
        <p:nvSpPr>
          <p:cNvPr id="12" name="Text 8"/>
          <p:cNvSpPr/>
          <p:nvPr/>
        </p:nvSpPr>
        <p:spPr>
          <a:xfrm>
            <a:off x="7404100" y="4058394"/>
            <a:ext cx="397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AP at Frankfurt, against 0.30 for the 28-day rule</a:t>
            </a:r>
            <a:endParaRPr lang="en-US" sz="1200" dirty="0"/>
          </a:p>
        </p:txBody>
      </p:sp>
      <p:sp>
        <p:nvSpPr>
          <p:cNvPr id="13" name="Shape 9"/>
          <p:cNvSpPr/>
          <p:nvPr/>
        </p:nvSpPr>
        <p:spPr>
          <a:xfrm>
            <a:off x="6299200" y="4395936"/>
            <a:ext cx="5080000" cy="0"/>
          </a:xfrm>
          <a:prstGeom prst="line">
            <a:avLst/>
          </a:prstGeom>
          <a:noFill/>
          <a:ln w="6350">
            <a:solidFill>
              <a:srgbClr val="D9D8D2"/>
            </a:solidFill>
            <a:prstDash val="solid"/>
          </a:ln>
        </p:spPr>
      </p:sp>
      <p:sp>
        <p:nvSpPr>
          <p:cNvPr id="14" name="Shape 10"/>
          <p:cNvSpPr/>
          <p:nvPr/>
        </p:nvSpPr>
        <p:spPr>
          <a:xfrm>
            <a:off x="6299200" y="4993829"/>
            <a:ext cx="5080000" cy="0"/>
          </a:xfrm>
          <a:prstGeom prst="line">
            <a:avLst/>
          </a:prstGeom>
          <a:noFill/>
          <a:ln w="6350">
            <a:solidFill>
              <a:srgbClr val="D9D8D2"/>
            </a:solidFill>
            <a:prstDash val="solid"/>
          </a:ln>
        </p:spPr>
      </p:sp>
      <p:sp>
        <p:nvSpPr>
          <p:cNvPr id="15" name="Text 11"/>
          <p:cNvSpPr/>
          <p:nvPr/>
        </p:nvSpPr>
        <p:spPr>
          <a:xfrm>
            <a:off x="6299200" y="4526111"/>
            <a:ext cx="1003300"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11111"/>
                </a:solidFill>
                <a:latin typeface="Oswald" pitchFamily="34" charset="0"/>
                <a:ea typeface="Oswald" pitchFamily="34" charset="-122"/>
                <a:cs typeface="Oswald" pitchFamily="34" charset="-120"/>
              </a:rPr>
              <a:t>3 / 52</a:t>
            </a:r>
            <a:endParaRPr lang="en-US" sz="2400" dirty="0"/>
          </a:p>
        </p:txBody>
      </p:sp>
      <p:sp>
        <p:nvSpPr>
          <p:cNvPr id="16" name="Text 12"/>
          <p:cNvSpPr/>
          <p:nvPr/>
        </p:nvSpPr>
        <p:spPr>
          <a:xfrm>
            <a:off x="7404100" y="4656286"/>
            <a:ext cx="39751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disrupted days caught at Stuttgart. Still homework.</a:t>
            </a:r>
            <a:endParaRPr lang="en-US" sz="1200" dirty="0"/>
          </a:p>
        </p:txBody>
      </p:sp>
      <p:sp>
        <p:nvSpPr>
          <p:cNvPr id="17" name="Text 13"/>
          <p:cNvSpPr/>
          <p:nvPr/>
        </p:nvSpPr>
        <p:spPr>
          <a:xfrm>
            <a:off x="6299200" y="4997004"/>
            <a:ext cx="5232400" cy="870396"/>
          </a:xfrm>
          <a:prstGeom prst="rect">
            <a:avLst/>
          </a:prstGeom>
          <a:noFill/>
          <a:ln/>
        </p:spPr>
        <p:txBody>
          <a:bodyPr wrap="square" lIns="0" tIns="0" rIns="0" bIns="0" rtlCol="0" anchor="t">
            <a:normAutofit/>
          </a:bodyPr>
          <a:lstStyle/>
          <a:p>
            <a:pPr algn="l" indent="0" marL="0">
              <a:lnSpc>
                <a:spcPts val="2219"/>
              </a:lnSpc>
              <a:buNone/>
            </a:pPr>
            <a:r>
              <a:rPr lang="en-US" sz="1585" i="1" dirty="0">
                <a:solidFill>
                  <a:srgbClr val="111111"/>
                </a:solidFill>
                <a:latin typeface="DM Sans" pitchFamily="34" charset="0"/>
                <a:ea typeface="DM Sans" pitchFamily="34" charset="-122"/>
                <a:cs typeface="DM Sans" pitchFamily="34" charset="-120"/>
              </a:rPr>
              <a:t>Ehrlich gesagt:</a:t>
            </a:r>
            <a:r>
              <a:rPr lang="en-US" sz="1585" dirty="0">
                <a:solidFill>
                  <a:srgbClr val="111111"/>
                </a:solidFill>
                <a:latin typeface="DM Sans" pitchFamily="34" charset="0"/>
                <a:ea typeface="DM Sans" pitchFamily="34" charset="-122"/>
                <a:cs typeface="DM Sans" pitchFamily="34" charset="-120"/>
              </a:rPr>
              <a:t> 89% of days have no delay, so “nothing happens” is hard to beat. Our delay-minutes model won by only 0.007 MAE.</a:t>
            </a:r>
            <a:endParaRPr lang="en-US" sz="1585" dirty="0"/>
          </a:p>
        </p:txBody>
      </p:sp>
      <p:sp>
        <p:nvSpPr>
          <p:cNvPr id="18" name="Text 14"/>
          <p:cNvSpPr/>
          <p:nvPr/>
        </p:nvSpPr>
        <p:spPr>
          <a:xfrm>
            <a:off x="6299200" y="6024959"/>
            <a:ext cx="52324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Settings fixed on 2022–2023 before the test years · observed weather stands in for a forecast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8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DM Sans" pitchFamily="34" charset="0"/>
                <a:ea typeface="DM Sans" pitchFamily="34" charset="-122"/>
                <a:cs typeface="DM Sans" pitchFamily="34" charset="-120"/>
              </a:rPr>
              <a:t>RESULTS · ALL MODELS, TEST YEARS 2024–25</a:t>
            </a:r>
            <a:endParaRPr lang="en-US" sz="1200" dirty="0"/>
          </a:p>
        </p:txBody>
      </p:sp>
      <p:sp>
        <p:nvSpPr>
          <p:cNvPr id="3" name="Text 1"/>
          <p:cNvSpPr/>
          <p:nvPr>
            <p:ph type="title"/>
          </p:nvPr>
        </p:nvSpPr>
        <p:spPr>
          <a:xfrm>
            <a:off x="812800" y="11785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0" i="0" spc="50" kern="0" dirty="0">
                <a:solidFill>
                  <a:srgbClr val="111111"/>
                </a:solidFill>
                <a:latin typeface="Oswald" pitchFamily="34" charset="0"/>
                <a:ea typeface="Oswald" pitchFamily="34" charset="-122"/>
                <a:cs typeface="Oswald" pitchFamily="34" charset="-120"/>
              </a:rPr>
              <a:t>THE SCOREBOARD</a:t>
            </a:r>
            <a:endParaRPr lang="en-US" sz="4400" dirty="0"/>
          </a:p>
        </p:txBody>
      </p:sp>
      <p:pic>
        <p:nvPicPr>
          <p:cNvPr id="4" name="Image 0" descr="line">    </p:cNvPr>
          <p:cNvPicPr>
            <a:picLocks noChangeAspect="1"/>
          </p:cNvPicPr>
          <p:nvPr/>
        </p:nvPicPr>
        <p:blipFill>
          <a:blip r:embed="rId1"/>
          <a:srcRect l="0" r="0" t="0" b="0"/>
          <a:stretch/>
        </p:blipFill>
        <p:spPr>
          <a:xfrm>
            <a:off x="812800" y="1889720"/>
            <a:ext cx="1016000" cy="50800"/>
          </a:xfrm>
          <a:prstGeom prst="rect">
            <a:avLst/>
          </a:prstGeom>
        </p:spPr>
      </p:pic>
      <p:sp>
        <p:nvSpPr>
          <p:cNvPr id="5" name="Text 2"/>
          <p:cNvSpPr/>
          <p:nvPr/>
        </p:nvSpPr>
        <p:spPr>
          <a:xfrm>
            <a:off x="812800" y="2296120"/>
            <a:ext cx="589145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5E5A"/>
                </a:solidFill>
                <a:latin typeface="DM Sans" pitchFamily="34" charset="0"/>
                <a:ea typeface="DM Sans" pitchFamily="34" charset="-122"/>
                <a:cs typeface="DM Sans" pitchFamily="34" charset="-120"/>
              </a:rPr>
              <a:t>DISRUPTED DAY? · CLASSIFIERS</a:t>
            </a:r>
            <a:endParaRPr lang="en-US" sz="1200" dirty="0"/>
          </a:p>
        </p:txBody>
      </p:sp>
      <p:sp>
        <p:nvSpPr>
          <p:cNvPr id="6" name="Text 3"/>
          <p:cNvSpPr/>
          <p:nvPr/>
        </p:nvSpPr>
        <p:spPr>
          <a:xfrm>
            <a:off x="2513261" y="2611041"/>
            <a:ext cx="823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AP</a:t>
            </a:r>
            <a:endParaRPr lang="en-US" sz="1200" dirty="0"/>
          </a:p>
        </p:txBody>
      </p:sp>
      <p:sp>
        <p:nvSpPr>
          <p:cNvPr id="7" name="Text 4"/>
          <p:cNvSpPr/>
          <p:nvPr/>
        </p:nvSpPr>
        <p:spPr>
          <a:xfrm>
            <a:off x="3286224" y="2611041"/>
            <a:ext cx="97834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ROC-AUC</a:t>
            </a:r>
            <a:endParaRPr lang="en-US" sz="1200" dirty="0"/>
          </a:p>
        </p:txBody>
      </p:sp>
      <p:sp>
        <p:nvSpPr>
          <p:cNvPr id="8" name="Text 5"/>
          <p:cNvSpPr/>
          <p:nvPr/>
        </p:nvSpPr>
        <p:spPr>
          <a:xfrm>
            <a:off x="4213771" y="2611041"/>
            <a:ext cx="823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Brier</a:t>
            </a:r>
            <a:endParaRPr lang="en-US" sz="1200" dirty="0"/>
          </a:p>
        </p:txBody>
      </p:sp>
      <p:sp>
        <p:nvSpPr>
          <p:cNvPr id="9" name="Text 6"/>
          <p:cNvSpPr/>
          <p:nvPr/>
        </p:nvSpPr>
        <p:spPr>
          <a:xfrm>
            <a:off x="4986734" y="2611041"/>
            <a:ext cx="823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Prec.</a:t>
            </a:r>
            <a:endParaRPr lang="en-US" sz="1200" dirty="0"/>
          </a:p>
        </p:txBody>
      </p:sp>
      <p:sp>
        <p:nvSpPr>
          <p:cNvPr id="10" name="Text 7"/>
          <p:cNvSpPr/>
          <p:nvPr/>
        </p:nvSpPr>
        <p:spPr>
          <a:xfrm>
            <a:off x="5759698" y="2611041"/>
            <a:ext cx="823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Recall</a:t>
            </a:r>
            <a:endParaRPr lang="en-US" sz="1200" dirty="0"/>
          </a:p>
        </p:txBody>
      </p:sp>
      <p:sp>
        <p:nvSpPr>
          <p:cNvPr id="11" name="Shape 8"/>
          <p:cNvSpPr/>
          <p:nvPr/>
        </p:nvSpPr>
        <p:spPr>
          <a:xfrm>
            <a:off x="812800" y="2903736"/>
            <a:ext cx="5719862" cy="0"/>
          </a:xfrm>
          <a:prstGeom prst="line">
            <a:avLst/>
          </a:prstGeom>
          <a:noFill/>
          <a:ln w="6350">
            <a:solidFill>
              <a:srgbClr val="D9D8D2"/>
            </a:solidFill>
            <a:prstDash val="solid"/>
          </a:ln>
        </p:spPr>
      </p:sp>
      <p:sp>
        <p:nvSpPr>
          <p:cNvPr id="12" name="Text 9"/>
          <p:cNvSpPr/>
          <p:nvPr/>
        </p:nvSpPr>
        <p:spPr>
          <a:xfrm>
            <a:off x="812800" y="3021211"/>
            <a:ext cx="175147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4FD8"/>
                </a:solidFill>
                <a:latin typeface="DM Sans" pitchFamily="34" charset="0"/>
                <a:ea typeface="DM Sans" pitchFamily="34" charset="-122"/>
                <a:cs typeface="DM Sans" pitchFamily="34" charset="-120"/>
              </a:rPr>
              <a:t>LightGBM</a:t>
            </a:r>
            <a:endParaRPr lang="en-US" sz="1500" dirty="0"/>
          </a:p>
        </p:txBody>
      </p:sp>
      <p:sp>
        <p:nvSpPr>
          <p:cNvPr id="13" name="Text 10"/>
          <p:cNvSpPr/>
          <p:nvPr/>
        </p:nvSpPr>
        <p:spPr>
          <a:xfrm>
            <a:off x="2513261" y="3021211"/>
            <a:ext cx="82376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111"/>
                </a:solidFill>
                <a:latin typeface="DM Sans" pitchFamily="34" charset="0"/>
                <a:ea typeface="DM Sans" pitchFamily="34" charset="-122"/>
                <a:cs typeface="DM Sans" pitchFamily="34" charset="-120"/>
              </a:rPr>
              <a:t>0.389</a:t>
            </a:r>
            <a:endParaRPr lang="en-US" sz="1500" dirty="0"/>
          </a:p>
        </p:txBody>
      </p:sp>
      <p:sp>
        <p:nvSpPr>
          <p:cNvPr id="14" name="Text 11"/>
          <p:cNvSpPr/>
          <p:nvPr/>
        </p:nvSpPr>
        <p:spPr>
          <a:xfrm>
            <a:off x="3286224" y="3021211"/>
            <a:ext cx="978346"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111"/>
                </a:solidFill>
                <a:latin typeface="DM Sans" pitchFamily="34" charset="0"/>
                <a:ea typeface="DM Sans" pitchFamily="34" charset="-122"/>
                <a:cs typeface="DM Sans" pitchFamily="34" charset="-120"/>
              </a:rPr>
              <a:t>0.895</a:t>
            </a:r>
            <a:endParaRPr lang="en-US" sz="1500" dirty="0"/>
          </a:p>
        </p:txBody>
      </p:sp>
      <p:sp>
        <p:nvSpPr>
          <p:cNvPr id="15" name="Text 12"/>
          <p:cNvSpPr/>
          <p:nvPr/>
        </p:nvSpPr>
        <p:spPr>
          <a:xfrm>
            <a:off x="4213771" y="3021211"/>
            <a:ext cx="82376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111"/>
                </a:solidFill>
                <a:latin typeface="DM Sans" pitchFamily="34" charset="0"/>
                <a:ea typeface="DM Sans" pitchFamily="34" charset="-122"/>
                <a:cs typeface="DM Sans" pitchFamily="34" charset="-120"/>
              </a:rPr>
              <a:t>0.045</a:t>
            </a:r>
            <a:endParaRPr lang="en-US" sz="1500" dirty="0"/>
          </a:p>
        </p:txBody>
      </p:sp>
      <p:sp>
        <p:nvSpPr>
          <p:cNvPr id="16" name="Text 13"/>
          <p:cNvSpPr/>
          <p:nvPr/>
        </p:nvSpPr>
        <p:spPr>
          <a:xfrm>
            <a:off x="4986734" y="3021211"/>
            <a:ext cx="82376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111"/>
                </a:solidFill>
                <a:latin typeface="DM Sans" pitchFamily="34" charset="0"/>
                <a:ea typeface="DM Sans" pitchFamily="34" charset="-122"/>
                <a:cs typeface="DM Sans" pitchFamily="34" charset="-120"/>
              </a:rPr>
              <a:t>0.39</a:t>
            </a:r>
            <a:endParaRPr lang="en-US" sz="1500" dirty="0"/>
          </a:p>
        </p:txBody>
      </p:sp>
      <p:sp>
        <p:nvSpPr>
          <p:cNvPr id="17" name="Text 14"/>
          <p:cNvSpPr/>
          <p:nvPr/>
        </p:nvSpPr>
        <p:spPr>
          <a:xfrm>
            <a:off x="5759698" y="302121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DM Sans" pitchFamily="34" charset="0"/>
                <a:ea typeface="DM Sans" pitchFamily="34" charset="-122"/>
                <a:cs typeface="DM Sans" pitchFamily="34" charset="-120"/>
              </a:rPr>
              <a:t>0.50</a:t>
            </a:r>
            <a:endParaRPr lang="en-US" sz="1500" dirty="0"/>
          </a:p>
        </p:txBody>
      </p:sp>
      <p:sp>
        <p:nvSpPr>
          <p:cNvPr id="18" name="Shape 15"/>
          <p:cNvSpPr/>
          <p:nvPr/>
        </p:nvSpPr>
        <p:spPr>
          <a:xfrm>
            <a:off x="812800" y="3405386"/>
            <a:ext cx="5719862" cy="0"/>
          </a:xfrm>
          <a:prstGeom prst="line">
            <a:avLst/>
          </a:prstGeom>
          <a:noFill/>
          <a:ln w="6350">
            <a:solidFill>
              <a:srgbClr val="D9D8D2"/>
            </a:solidFill>
            <a:prstDash val="solid"/>
          </a:ln>
        </p:spPr>
      </p:sp>
      <p:sp>
        <p:nvSpPr>
          <p:cNvPr id="19" name="Text 16"/>
          <p:cNvSpPr/>
          <p:nvPr/>
        </p:nvSpPr>
        <p:spPr>
          <a:xfrm>
            <a:off x="812800" y="3522861"/>
            <a:ext cx="175147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DM Sans" pitchFamily="34" charset="0"/>
                <a:ea typeface="DM Sans" pitchFamily="34" charset="-122"/>
                <a:cs typeface="DM Sans" pitchFamily="34" charset="-120"/>
              </a:rPr>
              <a:t>Logistic regression</a:t>
            </a:r>
            <a:endParaRPr lang="en-US" sz="1500" dirty="0"/>
          </a:p>
        </p:txBody>
      </p:sp>
      <p:sp>
        <p:nvSpPr>
          <p:cNvPr id="20" name="Text 17"/>
          <p:cNvSpPr/>
          <p:nvPr/>
        </p:nvSpPr>
        <p:spPr>
          <a:xfrm>
            <a:off x="2513261" y="352286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DM Sans" pitchFamily="34" charset="0"/>
                <a:ea typeface="DM Sans" pitchFamily="34" charset="-122"/>
                <a:cs typeface="DM Sans" pitchFamily="34" charset="-120"/>
              </a:rPr>
              <a:t>0.376</a:t>
            </a:r>
            <a:endParaRPr lang="en-US" sz="1500" dirty="0"/>
          </a:p>
        </p:txBody>
      </p:sp>
      <p:sp>
        <p:nvSpPr>
          <p:cNvPr id="21" name="Text 18"/>
          <p:cNvSpPr/>
          <p:nvPr/>
        </p:nvSpPr>
        <p:spPr>
          <a:xfrm>
            <a:off x="3286224" y="3522861"/>
            <a:ext cx="9783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DM Sans" pitchFamily="34" charset="0"/>
                <a:ea typeface="DM Sans" pitchFamily="34" charset="-122"/>
                <a:cs typeface="DM Sans" pitchFamily="34" charset="-120"/>
              </a:rPr>
              <a:t>0.889</a:t>
            </a:r>
            <a:endParaRPr lang="en-US" sz="1500" dirty="0"/>
          </a:p>
        </p:txBody>
      </p:sp>
      <p:sp>
        <p:nvSpPr>
          <p:cNvPr id="22" name="Text 19"/>
          <p:cNvSpPr/>
          <p:nvPr/>
        </p:nvSpPr>
        <p:spPr>
          <a:xfrm>
            <a:off x="4213771" y="352286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DM Sans" pitchFamily="34" charset="0"/>
                <a:ea typeface="DM Sans" pitchFamily="34" charset="-122"/>
                <a:cs typeface="DM Sans" pitchFamily="34" charset="-120"/>
              </a:rPr>
              <a:t>0.046</a:t>
            </a:r>
            <a:endParaRPr lang="en-US" sz="1500" dirty="0"/>
          </a:p>
        </p:txBody>
      </p:sp>
      <p:sp>
        <p:nvSpPr>
          <p:cNvPr id="23" name="Text 20"/>
          <p:cNvSpPr/>
          <p:nvPr/>
        </p:nvSpPr>
        <p:spPr>
          <a:xfrm>
            <a:off x="4986734" y="352286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DM Sans" pitchFamily="34" charset="0"/>
                <a:ea typeface="DM Sans" pitchFamily="34" charset="-122"/>
                <a:cs typeface="DM Sans" pitchFamily="34" charset="-120"/>
              </a:rPr>
              <a:t>0.34</a:t>
            </a:r>
            <a:endParaRPr lang="en-US" sz="1500" dirty="0"/>
          </a:p>
        </p:txBody>
      </p:sp>
      <p:sp>
        <p:nvSpPr>
          <p:cNvPr id="24" name="Text 21"/>
          <p:cNvSpPr/>
          <p:nvPr/>
        </p:nvSpPr>
        <p:spPr>
          <a:xfrm>
            <a:off x="5759698" y="352286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DM Sans" pitchFamily="34" charset="0"/>
                <a:ea typeface="DM Sans" pitchFamily="34" charset="-122"/>
                <a:cs typeface="DM Sans" pitchFamily="34" charset="-120"/>
              </a:rPr>
              <a:t>0.56</a:t>
            </a:r>
            <a:endParaRPr lang="en-US" sz="1500" dirty="0"/>
          </a:p>
        </p:txBody>
      </p:sp>
      <p:sp>
        <p:nvSpPr>
          <p:cNvPr id="25" name="Shape 22"/>
          <p:cNvSpPr/>
          <p:nvPr/>
        </p:nvSpPr>
        <p:spPr>
          <a:xfrm>
            <a:off x="812800" y="3907036"/>
            <a:ext cx="5719862" cy="0"/>
          </a:xfrm>
          <a:prstGeom prst="line">
            <a:avLst/>
          </a:prstGeom>
          <a:noFill/>
          <a:ln w="6350">
            <a:solidFill>
              <a:srgbClr val="D9D8D2"/>
            </a:solidFill>
            <a:prstDash val="solid"/>
          </a:ln>
        </p:spPr>
      </p:sp>
      <p:sp>
        <p:nvSpPr>
          <p:cNvPr id="26" name="Text 23"/>
          <p:cNvSpPr/>
          <p:nvPr/>
        </p:nvSpPr>
        <p:spPr>
          <a:xfrm>
            <a:off x="812800" y="4024511"/>
            <a:ext cx="175147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28-day rate</a:t>
            </a:r>
            <a:endParaRPr lang="en-US" sz="1500" dirty="0"/>
          </a:p>
        </p:txBody>
      </p:sp>
      <p:sp>
        <p:nvSpPr>
          <p:cNvPr id="27" name="Text 24"/>
          <p:cNvSpPr/>
          <p:nvPr/>
        </p:nvSpPr>
        <p:spPr>
          <a:xfrm>
            <a:off x="2513261" y="402451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0.242</a:t>
            </a:r>
            <a:endParaRPr lang="en-US" sz="1500" dirty="0"/>
          </a:p>
        </p:txBody>
      </p:sp>
      <p:sp>
        <p:nvSpPr>
          <p:cNvPr id="28" name="Text 25"/>
          <p:cNvSpPr/>
          <p:nvPr/>
        </p:nvSpPr>
        <p:spPr>
          <a:xfrm>
            <a:off x="3286224" y="4024511"/>
            <a:ext cx="9783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0.848</a:t>
            </a:r>
            <a:endParaRPr lang="en-US" sz="1500" dirty="0"/>
          </a:p>
        </p:txBody>
      </p:sp>
      <p:sp>
        <p:nvSpPr>
          <p:cNvPr id="29" name="Text 26"/>
          <p:cNvSpPr/>
          <p:nvPr/>
        </p:nvSpPr>
        <p:spPr>
          <a:xfrm>
            <a:off x="4213771" y="402451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0.050</a:t>
            </a:r>
            <a:endParaRPr lang="en-US" sz="1500" dirty="0"/>
          </a:p>
        </p:txBody>
      </p:sp>
      <p:sp>
        <p:nvSpPr>
          <p:cNvPr id="30" name="Text 27"/>
          <p:cNvSpPr/>
          <p:nvPr/>
        </p:nvSpPr>
        <p:spPr>
          <a:xfrm>
            <a:off x="4986734" y="402451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0.25</a:t>
            </a:r>
            <a:endParaRPr lang="en-US" sz="1500" dirty="0"/>
          </a:p>
        </p:txBody>
      </p:sp>
      <p:sp>
        <p:nvSpPr>
          <p:cNvPr id="31" name="Text 28"/>
          <p:cNvSpPr/>
          <p:nvPr/>
        </p:nvSpPr>
        <p:spPr>
          <a:xfrm>
            <a:off x="5759698" y="4024511"/>
            <a:ext cx="823764"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111"/>
                </a:solidFill>
                <a:latin typeface="DM Sans" pitchFamily="34" charset="0"/>
                <a:ea typeface="DM Sans" pitchFamily="34" charset="-122"/>
                <a:cs typeface="DM Sans" pitchFamily="34" charset="-120"/>
              </a:rPr>
              <a:t>0.62</a:t>
            </a:r>
            <a:endParaRPr lang="en-US" sz="1500" dirty="0"/>
          </a:p>
        </p:txBody>
      </p:sp>
      <p:sp>
        <p:nvSpPr>
          <p:cNvPr id="32" name="Shape 29"/>
          <p:cNvSpPr/>
          <p:nvPr/>
        </p:nvSpPr>
        <p:spPr>
          <a:xfrm>
            <a:off x="812800" y="4408686"/>
            <a:ext cx="5719862" cy="0"/>
          </a:xfrm>
          <a:prstGeom prst="line">
            <a:avLst/>
          </a:prstGeom>
          <a:noFill/>
          <a:ln w="6350">
            <a:solidFill>
              <a:srgbClr val="D9D8D2"/>
            </a:solidFill>
            <a:prstDash val="solid"/>
          </a:ln>
        </p:spPr>
      </p:sp>
      <p:sp>
        <p:nvSpPr>
          <p:cNvPr id="33" name="Shape 30"/>
          <p:cNvSpPr/>
          <p:nvPr/>
        </p:nvSpPr>
        <p:spPr>
          <a:xfrm>
            <a:off x="812800" y="4910336"/>
            <a:ext cx="5719862" cy="0"/>
          </a:xfrm>
          <a:prstGeom prst="line">
            <a:avLst/>
          </a:prstGeom>
          <a:noFill/>
          <a:ln w="6350">
            <a:solidFill>
              <a:srgbClr val="D9D8D2"/>
            </a:solidFill>
            <a:prstDash val="solid"/>
          </a:ln>
        </p:spPr>
      </p:sp>
      <p:sp>
        <p:nvSpPr>
          <p:cNvPr id="34" name="Text 31"/>
          <p:cNvSpPr/>
          <p:nvPr/>
        </p:nvSpPr>
        <p:spPr>
          <a:xfrm>
            <a:off x="812800" y="4526161"/>
            <a:ext cx="175147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Constant rate</a:t>
            </a:r>
            <a:endParaRPr lang="en-US" sz="1500" dirty="0"/>
          </a:p>
        </p:txBody>
      </p:sp>
      <p:sp>
        <p:nvSpPr>
          <p:cNvPr id="35" name="Text 32"/>
          <p:cNvSpPr/>
          <p:nvPr/>
        </p:nvSpPr>
        <p:spPr>
          <a:xfrm>
            <a:off x="2513261" y="452616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0.061</a:t>
            </a:r>
            <a:endParaRPr lang="en-US" sz="1500" dirty="0"/>
          </a:p>
        </p:txBody>
      </p:sp>
      <p:sp>
        <p:nvSpPr>
          <p:cNvPr id="36" name="Text 33"/>
          <p:cNvSpPr/>
          <p:nvPr/>
        </p:nvSpPr>
        <p:spPr>
          <a:xfrm>
            <a:off x="3286224" y="4526161"/>
            <a:ext cx="978346"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0.500</a:t>
            </a:r>
            <a:endParaRPr lang="en-US" sz="1500" dirty="0"/>
          </a:p>
        </p:txBody>
      </p:sp>
      <p:sp>
        <p:nvSpPr>
          <p:cNvPr id="37" name="Text 34"/>
          <p:cNvSpPr/>
          <p:nvPr/>
        </p:nvSpPr>
        <p:spPr>
          <a:xfrm>
            <a:off x="4213771" y="452616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0.057</a:t>
            </a:r>
            <a:endParaRPr lang="en-US" sz="1500" dirty="0"/>
          </a:p>
        </p:txBody>
      </p:sp>
      <p:sp>
        <p:nvSpPr>
          <p:cNvPr id="38" name="Text 35"/>
          <p:cNvSpPr/>
          <p:nvPr/>
        </p:nvSpPr>
        <p:spPr>
          <a:xfrm>
            <a:off x="4986734" y="452616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a:t>
            </a:r>
            <a:endParaRPr lang="en-US" sz="1500" dirty="0"/>
          </a:p>
        </p:txBody>
      </p:sp>
      <p:sp>
        <p:nvSpPr>
          <p:cNvPr id="39" name="Text 36"/>
          <p:cNvSpPr/>
          <p:nvPr/>
        </p:nvSpPr>
        <p:spPr>
          <a:xfrm>
            <a:off x="5759698" y="4526161"/>
            <a:ext cx="82376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a:t>
            </a:r>
            <a:endParaRPr lang="en-US" sz="1500" dirty="0"/>
          </a:p>
        </p:txBody>
      </p:sp>
      <p:sp>
        <p:nvSpPr>
          <p:cNvPr id="40" name="Text 37"/>
          <p:cNvSpPr/>
          <p:nvPr/>
        </p:nvSpPr>
        <p:spPr>
          <a:xfrm>
            <a:off x="7142262" y="2296120"/>
            <a:ext cx="436404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5E5A"/>
                </a:solidFill>
                <a:latin typeface="DM Sans" pitchFamily="34" charset="0"/>
                <a:ea typeface="DM Sans" pitchFamily="34" charset="-122"/>
                <a:cs typeface="DM Sans" pitchFamily="34" charset="-120"/>
              </a:rPr>
              <a:t>DELAY MIN PER ARRIVAL · REGRESSORS</a:t>
            </a:r>
            <a:endParaRPr lang="en-US" sz="1200" dirty="0"/>
          </a:p>
        </p:txBody>
      </p:sp>
      <p:sp>
        <p:nvSpPr>
          <p:cNvPr id="41" name="Text 38"/>
          <p:cNvSpPr/>
          <p:nvPr/>
        </p:nvSpPr>
        <p:spPr>
          <a:xfrm>
            <a:off x="8934797" y="2611041"/>
            <a:ext cx="8655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MAE</a:t>
            </a:r>
            <a:endParaRPr lang="en-US" sz="1200" dirty="0"/>
          </a:p>
        </p:txBody>
      </p:sp>
      <p:sp>
        <p:nvSpPr>
          <p:cNvPr id="42" name="Text 39"/>
          <p:cNvSpPr/>
          <p:nvPr/>
        </p:nvSpPr>
        <p:spPr>
          <a:xfrm>
            <a:off x="9749582" y="2611041"/>
            <a:ext cx="8655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RMSE</a:t>
            </a:r>
            <a:endParaRPr lang="en-US" sz="1200" dirty="0"/>
          </a:p>
        </p:txBody>
      </p:sp>
      <p:sp>
        <p:nvSpPr>
          <p:cNvPr id="43" name="Text 40"/>
          <p:cNvSpPr/>
          <p:nvPr/>
        </p:nvSpPr>
        <p:spPr>
          <a:xfrm>
            <a:off x="10564366" y="2611041"/>
            <a:ext cx="86563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R²</a:t>
            </a:r>
            <a:endParaRPr lang="en-US" sz="1200" dirty="0"/>
          </a:p>
        </p:txBody>
      </p:sp>
      <p:sp>
        <p:nvSpPr>
          <p:cNvPr id="44" name="Shape 41"/>
          <p:cNvSpPr/>
          <p:nvPr/>
        </p:nvSpPr>
        <p:spPr>
          <a:xfrm>
            <a:off x="7142262" y="2903736"/>
            <a:ext cx="4236938" cy="0"/>
          </a:xfrm>
          <a:prstGeom prst="line">
            <a:avLst/>
          </a:prstGeom>
          <a:noFill/>
          <a:ln w="6350">
            <a:solidFill>
              <a:srgbClr val="D9D8D2"/>
            </a:solidFill>
            <a:prstDash val="solid"/>
          </a:ln>
        </p:spPr>
      </p:sp>
      <p:sp>
        <p:nvSpPr>
          <p:cNvPr id="45" name="Text 42"/>
          <p:cNvSpPr/>
          <p:nvPr/>
        </p:nvSpPr>
        <p:spPr>
          <a:xfrm>
            <a:off x="7142262" y="3021211"/>
            <a:ext cx="1846312"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F4FD8"/>
                </a:solidFill>
                <a:latin typeface="DM Sans" pitchFamily="34" charset="0"/>
                <a:ea typeface="DM Sans" pitchFamily="34" charset="-122"/>
                <a:cs typeface="DM Sans" pitchFamily="34" charset="-120"/>
              </a:rPr>
              <a:t>LightGBM (Tweedie)</a:t>
            </a:r>
            <a:endParaRPr lang="en-US" sz="1500" dirty="0"/>
          </a:p>
        </p:txBody>
      </p:sp>
      <p:sp>
        <p:nvSpPr>
          <p:cNvPr id="46" name="Text 43"/>
          <p:cNvSpPr/>
          <p:nvPr/>
        </p:nvSpPr>
        <p:spPr>
          <a:xfrm>
            <a:off x="8934797" y="3021211"/>
            <a:ext cx="86558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111"/>
                </a:solidFill>
                <a:latin typeface="DM Sans" pitchFamily="34" charset="0"/>
                <a:ea typeface="DM Sans" pitchFamily="34" charset="-122"/>
                <a:cs typeface="DM Sans" pitchFamily="34" charset="-120"/>
              </a:rPr>
              <a:t>0.200</a:t>
            </a:r>
            <a:endParaRPr lang="en-US" sz="1500" dirty="0"/>
          </a:p>
        </p:txBody>
      </p:sp>
      <p:sp>
        <p:nvSpPr>
          <p:cNvPr id="47" name="Text 44"/>
          <p:cNvSpPr/>
          <p:nvPr/>
        </p:nvSpPr>
        <p:spPr>
          <a:xfrm>
            <a:off x="9749582" y="3021211"/>
            <a:ext cx="86558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111"/>
                </a:solidFill>
                <a:latin typeface="DM Sans" pitchFamily="34" charset="0"/>
                <a:ea typeface="DM Sans" pitchFamily="34" charset="-122"/>
                <a:cs typeface="DM Sans" pitchFamily="34" charset="-120"/>
              </a:rPr>
              <a:t>0.947</a:t>
            </a:r>
            <a:endParaRPr lang="en-US" sz="1500" dirty="0"/>
          </a:p>
        </p:txBody>
      </p:sp>
      <p:sp>
        <p:nvSpPr>
          <p:cNvPr id="48" name="Text 45"/>
          <p:cNvSpPr/>
          <p:nvPr/>
        </p:nvSpPr>
        <p:spPr>
          <a:xfrm>
            <a:off x="10564366" y="3021211"/>
            <a:ext cx="865634"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11111"/>
                </a:solidFill>
                <a:latin typeface="DM Sans" pitchFamily="34" charset="0"/>
                <a:ea typeface="DM Sans" pitchFamily="34" charset="-122"/>
                <a:cs typeface="DM Sans" pitchFamily="34" charset="-120"/>
              </a:rPr>
              <a:t>0.16</a:t>
            </a:r>
            <a:endParaRPr lang="en-US" sz="1500" dirty="0"/>
          </a:p>
        </p:txBody>
      </p:sp>
      <p:sp>
        <p:nvSpPr>
          <p:cNvPr id="49" name="Shape 46"/>
          <p:cNvSpPr/>
          <p:nvPr/>
        </p:nvSpPr>
        <p:spPr>
          <a:xfrm>
            <a:off x="7142262" y="3672086"/>
            <a:ext cx="4236938" cy="0"/>
          </a:xfrm>
          <a:prstGeom prst="line">
            <a:avLst/>
          </a:prstGeom>
          <a:noFill/>
          <a:ln w="6350">
            <a:solidFill>
              <a:srgbClr val="D9D8D2"/>
            </a:solidFill>
            <a:prstDash val="solid"/>
          </a:ln>
        </p:spPr>
      </p:sp>
      <p:sp>
        <p:nvSpPr>
          <p:cNvPr id="50" name="Text 47"/>
          <p:cNvSpPr/>
          <p:nvPr/>
        </p:nvSpPr>
        <p:spPr>
          <a:xfrm>
            <a:off x="7142262" y="3789561"/>
            <a:ext cx="18463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DM Sans" pitchFamily="34" charset="0"/>
                <a:ea typeface="DM Sans" pitchFamily="34" charset="-122"/>
                <a:cs typeface="DM Sans" pitchFamily="34" charset="-120"/>
              </a:rPr>
              <a:t>Ridge regression</a:t>
            </a:r>
            <a:endParaRPr lang="en-US" sz="1500" dirty="0"/>
          </a:p>
        </p:txBody>
      </p:sp>
      <p:sp>
        <p:nvSpPr>
          <p:cNvPr id="51" name="Text 48"/>
          <p:cNvSpPr/>
          <p:nvPr/>
        </p:nvSpPr>
        <p:spPr>
          <a:xfrm>
            <a:off x="8934797" y="3789561"/>
            <a:ext cx="865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DM Sans" pitchFamily="34" charset="0"/>
                <a:ea typeface="DM Sans" pitchFamily="34" charset="-122"/>
                <a:cs typeface="DM Sans" pitchFamily="34" charset="-120"/>
              </a:rPr>
              <a:t>0.290</a:t>
            </a:r>
            <a:endParaRPr lang="en-US" sz="1500" dirty="0"/>
          </a:p>
        </p:txBody>
      </p:sp>
      <p:sp>
        <p:nvSpPr>
          <p:cNvPr id="52" name="Text 49"/>
          <p:cNvSpPr/>
          <p:nvPr/>
        </p:nvSpPr>
        <p:spPr>
          <a:xfrm>
            <a:off x="9749582" y="3789561"/>
            <a:ext cx="865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DM Sans" pitchFamily="34" charset="0"/>
                <a:ea typeface="DM Sans" pitchFamily="34" charset="-122"/>
                <a:cs typeface="DM Sans" pitchFamily="34" charset="-120"/>
              </a:rPr>
              <a:t>0.957</a:t>
            </a:r>
            <a:endParaRPr lang="en-US" sz="1500" dirty="0"/>
          </a:p>
        </p:txBody>
      </p:sp>
      <p:sp>
        <p:nvSpPr>
          <p:cNvPr id="53" name="Text 50"/>
          <p:cNvSpPr/>
          <p:nvPr/>
        </p:nvSpPr>
        <p:spPr>
          <a:xfrm>
            <a:off x="10564366" y="3789561"/>
            <a:ext cx="86563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11111"/>
                </a:solidFill>
                <a:latin typeface="DM Sans" pitchFamily="34" charset="0"/>
                <a:ea typeface="DM Sans" pitchFamily="34" charset="-122"/>
                <a:cs typeface="DM Sans" pitchFamily="34" charset="-120"/>
              </a:rPr>
              <a:t>0.14</a:t>
            </a:r>
            <a:endParaRPr lang="en-US" sz="1500" dirty="0"/>
          </a:p>
        </p:txBody>
      </p:sp>
      <p:sp>
        <p:nvSpPr>
          <p:cNvPr id="54" name="Shape 51"/>
          <p:cNvSpPr/>
          <p:nvPr/>
        </p:nvSpPr>
        <p:spPr>
          <a:xfrm>
            <a:off x="7142262" y="4173736"/>
            <a:ext cx="4236938" cy="0"/>
          </a:xfrm>
          <a:prstGeom prst="line">
            <a:avLst/>
          </a:prstGeom>
          <a:noFill/>
          <a:ln w="6350">
            <a:solidFill>
              <a:srgbClr val="D9D8D2"/>
            </a:solidFill>
            <a:prstDash val="solid"/>
          </a:ln>
        </p:spPr>
      </p:sp>
      <p:sp>
        <p:nvSpPr>
          <p:cNvPr id="55" name="Text 52"/>
          <p:cNvSpPr/>
          <p:nvPr/>
        </p:nvSpPr>
        <p:spPr>
          <a:xfrm>
            <a:off x="7142262" y="4291211"/>
            <a:ext cx="18463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Always zero</a:t>
            </a:r>
            <a:endParaRPr lang="en-US" sz="1500" dirty="0"/>
          </a:p>
        </p:txBody>
      </p:sp>
      <p:sp>
        <p:nvSpPr>
          <p:cNvPr id="56" name="Text 53"/>
          <p:cNvSpPr/>
          <p:nvPr/>
        </p:nvSpPr>
        <p:spPr>
          <a:xfrm>
            <a:off x="8934797" y="4291211"/>
            <a:ext cx="865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0.207</a:t>
            </a:r>
            <a:endParaRPr lang="en-US" sz="1500" dirty="0"/>
          </a:p>
        </p:txBody>
      </p:sp>
      <p:sp>
        <p:nvSpPr>
          <p:cNvPr id="57" name="Text 54"/>
          <p:cNvSpPr/>
          <p:nvPr/>
        </p:nvSpPr>
        <p:spPr>
          <a:xfrm>
            <a:off x="9749582" y="4291211"/>
            <a:ext cx="865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1.054</a:t>
            </a:r>
            <a:endParaRPr lang="en-US" sz="1500" dirty="0"/>
          </a:p>
        </p:txBody>
      </p:sp>
      <p:sp>
        <p:nvSpPr>
          <p:cNvPr id="58" name="Text 55"/>
          <p:cNvSpPr/>
          <p:nvPr/>
        </p:nvSpPr>
        <p:spPr>
          <a:xfrm>
            <a:off x="10564366" y="4291211"/>
            <a:ext cx="86563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−0.04</a:t>
            </a:r>
            <a:endParaRPr lang="en-US" sz="1500" dirty="0"/>
          </a:p>
        </p:txBody>
      </p:sp>
      <p:sp>
        <p:nvSpPr>
          <p:cNvPr id="59" name="Shape 56"/>
          <p:cNvSpPr/>
          <p:nvPr/>
        </p:nvSpPr>
        <p:spPr>
          <a:xfrm>
            <a:off x="7142262" y="4675386"/>
            <a:ext cx="4236938" cy="0"/>
          </a:xfrm>
          <a:prstGeom prst="line">
            <a:avLst/>
          </a:prstGeom>
          <a:noFill/>
          <a:ln w="6350">
            <a:solidFill>
              <a:srgbClr val="D9D8D2"/>
            </a:solidFill>
            <a:prstDash val="solid"/>
          </a:ln>
        </p:spPr>
      </p:sp>
      <p:sp>
        <p:nvSpPr>
          <p:cNvPr id="60" name="Shape 57"/>
          <p:cNvSpPr/>
          <p:nvPr/>
        </p:nvSpPr>
        <p:spPr>
          <a:xfrm>
            <a:off x="7142262" y="5177036"/>
            <a:ext cx="4236938" cy="0"/>
          </a:xfrm>
          <a:prstGeom prst="line">
            <a:avLst/>
          </a:prstGeom>
          <a:noFill/>
          <a:ln w="6350">
            <a:solidFill>
              <a:srgbClr val="D9D8D2"/>
            </a:solidFill>
            <a:prstDash val="solid"/>
          </a:ln>
        </p:spPr>
      </p:sp>
      <p:sp>
        <p:nvSpPr>
          <p:cNvPr id="61" name="Text 58"/>
          <p:cNvSpPr/>
          <p:nvPr/>
        </p:nvSpPr>
        <p:spPr>
          <a:xfrm>
            <a:off x="7142262" y="4792861"/>
            <a:ext cx="184631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28-day average</a:t>
            </a:r>
            <a:endParaRPr lang="en-US" sz="1500" dirty="0"/>
          </a:p>
        </p:txBody>
      </p:sp>
      <p:sp>
        <p:nvSpPr>
          <p:cNvPr id="62" name="Text 59"/>
          <p:cNvSpPr/>
          <p:nvPr/>
        </p:nvSpPr>
        <p:spPr>
          <a:xfrm>
            <a:off x="8934797" y="4792861"/>
            <a:ext cx="865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0.298</a:t>
            </a:r>
            <a:endParaRPr lang="en-US" sz="1500" dirty="0"/>
          </a:p>
        </p:txBody>
      </p:sp>
      <p:sp>
        <p:nvSpPr>
          <p:cNvPr id="63" name="Text 60"/>
          <p:cNvSpPr/>
          <p:nvPr/>
        </p:nvSpPr>
        <p:spPr>
          <a:xfrm>
            <a:off x="9749582" y="4792861"/>
            <a:ext cx="86558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0.989</a:t>
            </a:r>
            <a:endParaRPr lang="en-US" sz="1500" dirty="0"/>
          </a:p>
        </p:txBody>
      </p:sp>
      <p:sp>
        <p:nvSpPr>
          <p:cNvPr id="64" name="Text 61"/>
          <p:cNvSpPr/>
          <p:nvPr/>
        </p:nvSpPr>
        <p:spPr>
          <a:xfrm>
            <a:off x="10564366" y="4792861"/>
            <a:ext cx="865634"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5F5E5A"/>
                </a:solidFill>
                <a:latin typeface="DM Sans" pitchFamily="34" charset="0"/>
                <a:ea typeface="DM Sans" pitchFamily="34" charset="-122"/>
                <a:cs typeface="DM Sans" pitchFamily="34" charset="-120"/>
              </a:rPr>
              <a:t>0.08</a:t>
            </a:r>
            <a:endParaRPr lang="en-US" sz="1500" dirty="0"/>
          </a:p>
        </p:txBody>
      </p:sp>
      <p:sp>
        <p:nvSpPr>
          <p:cNvPr id="65" name="Text 62"/>
          <p:cNvSpPr/>
          <p:nvPr/>
        </p:nvSpPr>
        <p:spPr>
          <a:xfrm>
            <a:off x="812800" y="6024959"/>
            <a:ext cx="1088339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8,771 airport-days scored once · bold: best per column · grey rows: baselines · lower is better for Brier, MAE, RMSE · precision and recall at the 0.20 alert threshold chosen on 2023</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8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DM Sans" pitchFamily="34" charset="0"/>
                <a:ea typeface="DM Sans" pitchFamily="34" charset="-122"/>
                <a:cs typeface="DM Sans" pitchFamily="34" charset="-120"/>
              </a:rPr>
              <a:t>BI · NETWORK KPIS, 2014–2025</a:t>
            </a:r>
            <a:endParaRPr lang="en-US" sz="1200" dirty="0"/>
          </a:p>
        </p:txBody>
      </p:sp>
      <p:sp>
        <p:nvSpPr>
          <p:cNvPr id="3" name="Text 1"/>
          <p:cNvSpPr/>
          <p:nvPr>
            <p:ph type="title"/>
          </p:nvPr>
        </p:nvSpPr>
        <p:spPr>
          <a:xfrm>
            <a:off x="812800" y="1178520"/>
            <a:ext cx="10883392" cy="1143000"/>
          </a:xfrm>
          <a:prstGeom prst="rect">
            <a:avLst/>
          </a:prstGeom>
          <a:noFill/>
          <a:ln/>
        </p:spPr>
        <p:txBody>
          <a:bodyPr wrap="square" lIns="0" tIns="0" rIns="0" bIns="0" rtlCol="0" anchor="t">
            <a:normAutofit/>
          </a:bodyPr>
          <a:lstStyle/>
          <a:p>
            <a:pPr algn="l" indent="0" marL="0">
              <a:lnSpc>
                <a:spcPts val="4400"/>
              </a:lnSpc>
              <a:buNone/>
            </a:pPr>
            <a:r>
              <a:rPr lang="en-US" sz="4400" b="0" i="0" spc="50" kern="0" dirty="0">
                <a:solidFill>
                  <a:srgbClr val="111111"/>
                </a:solidFill>
                <a:latin typeface="Oswald" pitchFamily="34" charset="0"/>
                <a:ea typeface="Oswald" pitchFamily="34" charset="-122"/>
                <a:cs typeface="Oswald" pitchFamily="34" charset="-120"/>
              </a:rPr>
              <a:t>WEATHER CAUSES TWO THIRDS OF ALL DELAY MINUTES</a:t>
            </a:r>
            <a:endParaRPr lang="en-US" sz="4400" dirty="0"/>
          </a:p>
        </p:txBody>
      </p:sp>
      <p:pic>
        <p:nvPicPr>
          <p:cNvPr id="4" name="Image 0" descr="line">    </p:cNvPr>
          <p:cNvPicPr>
            <a:picLocks noChangeAspect="1"/>
          </p:cNvPicPr>
          <p:nvPr/>
        </p:nvPicPr>
        <p:blipFill>
          <a:blip r:embed="rId1"/>
          <a:srcRect l="0" r="0" t="0" b="0"/>
          <a:stretch/>
        </p:blipFill>
        <p:spPr>
          <a:xfrm>
            <a:off x="812800" y="2448520"/>
            <a:ext cx="1016000" cy="50800"/>
          </a:xfrm>
          <a:prstGeom prst="rect">
            <a:avLst/>
          </a:prstGeom>
        </p:spPr>
      </p:pic>
      <p:sp>
        <p:nvSpPr>
          <p:cNvPr id="5" name="Shape 2"/>
          <p:cNvSpPr/>
          <p:nvPr/>
        </p:nvSpPr>
        <p:spPr>
          <a:xfrm>
            <a:off x="812800" y="2900114"/>
            <a:ext cx="10566400" cy="0"/>
          </a:xfrm>
          <a:prstGeom prst="line">
            <a:avLst/>
          </a:prstGeom>
          <a:noFill/>
          <a:ln w="6350">
            <a:solidFill>
              <a:srgbClr val="D9D8D2"/>
            </a:solidFill>
            <a:prstDash val="solid"/>
          </a:ln>
        </p:spPr>
      </p:sp>
      <p:sp>
        <p:nvSpPr>
          <p:cNvPr id="6" name="Text 3"/>
          <p:cNvSpPr/>
          <p:nvPr/>
        </p:nvSpPr>
        <p:spPr>
          <a:xfrm>
            <a:off x="812800" y="3106489"/>
            <a:ext cx="245922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5E5A"/>
                </a:solidFill>
                <a:latin typeface="DM Sans" pitchFamily="34" charset="0"/>
                <a:ea typeface="DM Sans" pitchFamily="34" charset="-122"/>
                <a:cs typeface="DM Sans" pitchFamily="34" charset="-120"/>
              </a:rPr>
              <a:t>TOTAL ARRIVALS</a:t>
            </a:r>
            <a:endParaRPr lang="en-US" sz="1200" dirty="0"/>
          </a:p>
        </p:txBody>
      </p:sp>
      <p:sp>
        <p:nvSpPr>
          <p:cNvPr id="7" name="Text 4"/>
          <p:cNvSpPr/>
          <p:nvPr/>
        </p:nvSpPr>
        <p:spPr>
          <a:xfrm>
            <a:off x="812800" y="3472210"/>
            <a:ext cx="2459228" cy="711200"/>
          </a:xfrm>
          <a:prstGeom prst="rect">
            <a:avLst/>
          </a:prstGeom>
          <a:noFill/>
          <a:ln/>
        </p:spPr>
        <p:txBody>
          <a:bodyPr wrap="square" lIns="0" tIns="0" rIns="0" bIns="0" rtlCol="0" anchor="t">
            <a:normAutofit/>
          </a:bodyPr>
          <a:lstStyle/>
          <a:p>
            <a:pPr algn="l" indent="0" marL="0">
              <a:lnSpc>
                <a:spcPts val="5400"/>
              </a:lnSpc>
              <a:buNone/>
            </a:pPr>
            <a:r>
              <a:rPr lang="en-US" sz="6000" dirty="0">
                <a:solidFill>
                  <a:srgbClr val="111111"/>
                </a:solidFill>
                <a:latin typeface="Oswald" pitchFamily="34" charset="0"/>
                <a:ea typeface="Oswald" pitchFamily="34" charset="-122"/>
                <a:cs typeface="Oswald" pitchFamily="34" charset="-120"/>
              </a:rPr>
              <a:t>8.93 M</a:t>
            </a:r>
            <a:endParaRPr lang="en-US" sz="6000" dirty="0"/>
          </a:p>
        </p:txBody>
      </p:sp>
      <p:sp>
        <p:nvSpPr>
          <p:cNvPr id="8" name="Text 5"/>
          <p:cNvSpPr/>
          <p:nvPr/>
        </p:nvSpPr>
        <p:spPr>
          <a:xfrm>
            <a:off x="812800" y="4310410"/>
            <a:ext cx="245922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How much traffic are we analysing?</a:t>
            </a:r>
            <a:endParaRPr lang="en-US" sz="1200" dirty="0"/>
          </a:p>
        </p:txBody>
      </p:sp>
      <p:sp>
        <p:nvSpPr>
          <p:cNvPr id="9" name="Shape 6"/>
          <p:cNvSpPr/>
          <p:nvPr/>
        </p:nvSpPr>
        <p:spPr>
          <a:xfrm>
            <a:off x="3457575" y="2903289"/>
            <a:ext cx="0" cy="2047081"/>
          </a:xfrm>
          <a:prstGeom prst="line">
            <a:avLst/>
          </a:prstGeom>
          <a:noFill/>
          <a:ln w="6350">
            <a:solidFill>
              <a:srgbClr val="D9D8D2"/>
            </a:solidFill>
            <a:prstDash val="solid"/>
          </a:ln>
        </p:spPr>
      </p:sp>
      <p:sp>
        <p:nvSpPr>
          <p:cNvPr id="10" name="Text 7"/>
          <p:cNvSpPr/>
          <p:nvPr/>
        </p:nvSpPr>
        <p:spPr>
          <a:xfrm>
            <a:off x="3714750" y="3106489"/>
            <a:ext cx="2191068"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5E5A"/>
                </a:solidFill>
                <a:latin typeface="DM Sans" pitchFamily="34" charset="0"/>
                <a:ea typeface="DM Sans" pitchFamily="34" charset="-122"/>
                <a:cs typeface="DM Sans" pitchFamily="34" charset="-120"/>
              </a:rPr>
              <a:t>DELAY MIN PER 1,000 ARRIVALS</a:t>
            </a:r>
            <a:endParaRPr lang="en-US" sz="1200" dirty="0"/>
          </a:p>
        </p:txBody>
      </p:sp>
      <p:sp>
        <p:nvSpPr>
          <p:cNvPr id="11" name="Text 8"/>
          <p:cNvSpPr/>
          <p:nvPr/>
        </p:nvSpPr>
        <p:spPr>
          <a:xfrm>
            <a:off x="3714750" y="3685530"/>
            <a:ext cx="2191068" cy="711200"/>
          </a:xfrm>
          <a:prstGeom prst="rect">
            <a:avLst/>
          </a:prstGeom>
          <a:noFill/>
          <a:ln/>
        </p:spPr>
        <p:txBody>
          <a:bodyPr wrap="square" lIns="0" tIns="0" rIns="0" bIns="0" rtlCol="0" anchor="t">
            <a:normAutofit/>
          </a:bodyPr>
          <a:lstStyle/>
          <a:p>
            <a:pPr algn="l" indent="0" marL="0">
              <a:lnSpc>
                <a:spcPts val="5400"/>
              </a:lnSpc>
              <a:buNone/>
            </a:pPr>
            <a:r>
              <a:rPr lang="en-US" sz="6000" dirty="0">
                <a:solidFill>
                  <a:srgbClr val="111111"/>
                </a:solidFill>
                <a:latin typeface="Oswald" pitchFamily="34" charset="0"/>
                <a:ea typeface="Oswald" pitchFamily="34" charset="-122"/>
                <a:cs typeface="Oswald" pitchFamily="34" charset="-120"/>
              </a:rPr>
              <a:t>458</a:t>
            </a:r>
            <a:endParaRPr lang="en-US" sz="6000" dirty="0"/>
          </a:p>
        </p:txBody>
      </p:sp>
      <p:sp>
        <p:nvSpPr>
          <p:cNvPr id="12" name="Text 9"/>
          <p:cNvSpPr/>
          <p:nvPr/>
        </p:nvSpPr>
        <p:spPr>
          <a:xfrm>
            <a:off x="3714750" y="4523730"/>
            <a:ext cx="21910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How severe is delay relative to traffic?</a:t>
            </a:r>
            <a:endParaRPr lang="en-US" sz="1200" dirty="0"/>
          </a:p>
        </p:txBody>
      </p:sp>
      <p:sp>
        <p:nvSpPr>
          <p:cNvPr id="13" name="Shape 10"/>
          <p:cNvSpPr/>
          <p:nvPr/>
        </p:nvSpPr>
        <p:spPr>
          <a:xfrm>
            <a:off x="6099175" y="2903289"/>
            <a:ext cx="0" cy="2047081"/>
          </a:xfrm>
          <a:prstGeom prst="line">
            <a:avLst/>
          </a:prstGeom>
          <a:noFill/>
          <a:ln w="6350">
            <a:solidFill>
              <a:srgbClr val="D9D8D2"/>
            </a:solidFill>
            <a:prstDash val="solid"/>
          </a:ln>
        </p:spPr>
      </p:sp>
      <p:sp>
        <p:nvSpPr>
          <p:cNvPr id="14" name="Text 11"/>
          <p:cNvSpPr/>
          <p:nvPr/>
        </p:nvSpPr>
        <p:spPr>
          <a:xfrm>
            <a:off x="6356350" y="3106489"/>
            <a:ext cx="21910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5E5A"/>
                </a:solidFill>
                <a:latin typeface="DM Sans" pitchFamily="34" charset="0"/>
                <a:ea typeface="DM Sans" pitchFamily="34" charset="-122"/>
                <a:cs typeface="DM Sans" pitchFamily="34" charset="-120"/>
              </a:rPr>
              <a:t>DISRUPTION RATE</a:t>
            </a:r>
            <a:endParaRPr lang="en-US" sz="1200" dirty="0"/>
          </a:p>
        </p:txBody>
      </p:sp>
      <p:sp>
        <p:nvSpPr>
          <p:cNvPr id="15" name="Text 12"/>
          <p:cNvSpPr/>
          <p:nvPr/>
        </p:nvSpPr>
        <p:spPr>
          <a:xfrm>
            <a:off x="6356350" y="3472210"/>
            <a:ext cx="2191068" cy="711200"/>
          </a:xfrm>
          <a:prstGeom prst="rect">
            <a:avLst/>
          </a:prstGeom>
          <a:noFill/>
          <a:ln/>
        </p:spPr>
        <p:txBody>
          <a:bodyPr wrap="square" lIns="0" tIns="0" rIns="0" bIns="0" rtlCol="0" anchor="t">
            <a:normAutofit/>
          </a:bodyPr>
          <a:lstStyle/>
          <a:p>
            <a:pPr algn="l" indent="0" marL="0">
              <a:lnSpc>
                <a:spcPts val="5400"/>
              </a:lnSpc>
              <a:buNone/>
            </a:pPr>
            <a:r>
              <a:rPr lang="en-US" sz="6000" dirty="0">
                <a:solidFill>
                  <a:srgbClr val="111111"/>
                </a:solidFill>
                <a:latin typeface="Oswald" pitchFamily="34" charset="0"/>
                <a:ea typeface="Oswald" pitchFamily="34" charset="-122"/>
                <a:cs typeface="Oswald" pitchFamily="34" charset="-120"/>
              </a:rPr>
              <a:t>6.2%</a:t>
            </a:r>
            <a:endParaRPr lang="en-US" sz="6000" dirty="0"/>
          </a:p>
        </p:txBody>
      </p:sp>
      <p:sp>
        <p:nvSpPr>
          <p:cNvPr id="16" name="Text 13"/>
          <p:cNvSpPr/>
          <p:nvPr/>
        </p:nvSpPr>
        <p:spPr>
          <a:xfrm>
            <a:off x="6356350" y="4310410"/>
            <a:ext cx="219106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How often do airport disruptions occur?</a:t>
            </a:r>
            <a:endParaRPr lang="en-US" sz="1200" dirty="0"/>
          </a:p>
        </p:txBody>
      </p:sp>
      <p:sp>
        <p:nvSpPr>
          <p:cNvPr id="17" name="Shape 14"/>
          <p:cNvSpPr/>
          <p:nvPr/>
        </p:nvSpPr>
        <p:spPr>
          <a:xfrm>
            <a:off x="8740775" y="2903289"/>
            <a:ext cx="0" cy="2047081"/>
          </a:xfrm>
          <a:prstGeom prst="line">
            <a:avLst/>
          </a:prstGeom>
          <a:noFill/>
          <a:ln w="6350">
            <a:solidFill>
              <a:srgbClr val="D9D8D2"/>
            </a:solidFill>
            <a:prstDash val="solid"/>
          </a:ln>
        </p:spPr>
      </p:sp>
      <p:sp>
        <p:nvSpPr>
          <p:cNvPr id="18" name="Text 15"/>
          <p:cNvSpPr/>
          <p:nvPr/>
        </p:nvSpPr>
        <p:spPr>
          <a:xfrm>
            <a:off x="8997950" y="3106489"/>
            <a:ext cx="2452688"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DM Sans" pitchFamily="34" charset="0"/>
                <a:ea typeface="DM Sans" pitchFamily="34" charset="-122"/>
                <a:cs typeface="DM Sans" pitchFamily="34" charset="-120"/>
              </a:rPr>
              <a:t>WEATHER SHARE OF DELAY</a:t>
            </a:r>
            <a:endParaRPr lang="en-US" sz="1200" dirty="0"/>
          </a:p>
        </p:txBody>
      </p:sp>
      <p:sp>
        <p:nvSpPr>
          <p:cNvPr id="19" name="Text 16"/>
          <p:cNvSpPr/>
          <p:nvPr/>
        </p:nvSpPr>
        <p:spPr>
          <a:xfrm>
            <a:off x="8997950" y="3685530"/>
            <a:ext cx="2452688" cy="711200"/>
          </a:xfrm>
          <a:prstGeom prst="rect">
            <a:avLst/>
          </a:prstGeom>
          <a:noFill/>
          <a:ln/>
        </p:spPr>
        <p:txBody>
          <a:bodyPr wrap="square" lIns="0" tIns="0" rIns="0" bIns="0" rtlCol="0" anchor="t">
            <a:normAutofit/>
          </a:bodyPr>
          <a:lstStyle/>
          <a:p>
            <a:pPr algn="l" indent="0" marL="0">
              <a:lnSpc>
                <a:spcPts val="5400"/>
              </a:lnSpc>
              <a:buNone/>
            </a:pPr>
            <a:r>
              <a:rPr lang="en-US" sz="6000" dirty="0">
                <a:solidFill>
                  <a:srgbClr val="1F4FD8"/>
                </a:solidFill>
                <a:latin typeface="Oswald" pitchFamily="34" charset="0"/>
                <a:ea typeface="Oswald" pitchFamily="34" charset="-122"/>
                <a:cs typeface="Oswald" pitchFamily="34" charset="-120"/>
              </a:rPr>
              <a:t>67.3%</a:t>
            </a:r>
            <a:endParaRPr lang="en-US" sz="6000" dirty="0"/>
          </a:p>
        </p:txBody>
      </p:sp>
      <p:sp>
        <p:nvSpPr>
          <p:cNvPr id="20" name="Text 17"/>
          <p:cNvSpPr/>
          <p:nvPr/>
        </p:nvSpPr>
        <p:spPr>
          <a:xfrm>
            <a:off x="8997950" y="4523730"/>
            <a:ext cx="245268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How much ATFM delay is weather-related?</a:t>
            </a:r>
            <a:endParaRPr lang="en-US" sz="1200" dirty="0"/>
          </a:p>
        </p:txBody>
      </p:sp>
      <p:sp>
        <p:nvSpPr>
          <p:cNvPr id="21" name="Shape 18"/>
          <p:cNvSpPr/>
          <p:nvPr/>
        </p:nvSpPr>
        <p:spPr>
          <a:xfrm>
            <a:off x="812800" y="5351165"/>
            <a:ext cx="10566400" cy="0"/>
          </a:xfrm>
          <a:prstGeom prst="line">
            <a:avLst/>
          </a:prstGeom>
          <a:noFill/>
          <a:ln w="6350">
            <a:solidFill>
              <a:srgbClr val="D9D8D2"/>
            </a:solidFill>
            <a:prstDash val="solid"/>
          </a:ln>
        </p:spPr>
      </p:sp>
      <p:sp>
        <p:nvSpPr>
          <p:cNvPr id="22" name="Text 19"/>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111"/>
                </a:solidFill>
                <a:latin typeface="DM Sans" pitchFamily="34" charset="0"/>
                <a:ea typeface="DM Sans" pitchFamily="34" charset="-122"/>
                <a:cs typeface="DM Sans" pitchFamily="34" charset="-120"/>
              </a:rPr>
              <a:t>Slide 2, solved: the answer is mostly </a:t>
            </a:r>
            <a:r>
              <a:rPr lang="en-US" sz="1600" b="1" dirty="0">
                <a:solidFill>
                  <a:srgbClr val="111111"/>
                </a:solidFill>
                <a:latin typeface="DM Sans" pitchFamily="34" charset="0"/>
                <a:ea typeface="DM Sans" pitchFamily="34" charset="-122"/>
                <a:cs typeface="DM Sans" pitchFamily="34" charset="-120"/>
              </a:rPr>
              <a:t>A, the weather</a:t>
            </a:r>
            <a:r>
              <a:rPr lang="en-US" sz="1600" dirty="0">
                <a:solidFill>
                  <a:srgbClr val="111111"/>
                </a:solidFill>
                <a:latin typeface="DM Sans" pitchFamily="34" charset="0"/>
                <a:ea typeface="DM Sans" pitchFamily="34" charset="-122"/>
                <a:cs typeface="DM Sans" pitchFamily="34" charset="-120"/>
              </a:rPr>
              <a:t>. Sorry, air traffic control.</a:t>
            </a:r>
            <a:endParaRPr lang="en-US" sz="1600" dirty="0"/>
          </a:p>
        </p:txBody>
      </p:sp>
      <p:sp>
        <p:nvSpPr>
          <p:cNvPr id="23" name="Text 20"/>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Ratios of sums over all 52,596 airport-days, so each airport counts by its traffic</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8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DM Sans" pitchFamily="34" charset="0"/>
                <a:ea typeface="DM Sans" pitchFamily="34" charset="-122"/>
                <a:cs typeface="DM Sans" pitchFamily="34" charset="-120"/>
              </a:rPr>
              <a:t>BI · WHERE AND WHEN IT HITS</a:t>
            </a:r>
            <a:endParaRPr lang="en-US" sz="1200" dirty="0"/>
          </a:p>
        </p:txBody>
      </p:sp>
      <p:sp>
        <p:nvSpPr>
          <p:cNvPr id="3" name="Text 1"/>
          <p:cNvSpPr/>
          <p:nvPr>
            <p:ph type="title"/>
          </p:nvPr>
        </p:nvSpPr>
        <p:spPr>
          <a:xfrm>
            <a:off x="812800" y="11785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0" i="0" spc="50" kern="0" dirty="0">
                <a:solidFill>
                  <a:srgbClr val="111111"/>
                </a:solidFill>
                <a:latin typeface="Oswald" pitchFamily="34" charset="0"/>
                <a:ea typeface="Oswald" pitchFamily="34" charset="-122"/>
                <a:cs typeface="Oswald" pitchFamily="34" charset="-120"/>
              </a:rPr>
              <a:t>STORMS AND BUSY DAYS DRIVE DISRUPTION</a:t>
            </a:r>
            <a:endParaRPr lang="en-US" sz="4400" dirty="0"/>
          </a:p>
        </p:txBody>
      </p:sp>
      <p:pic>
        <p:nvPicPr>
          <p:cNvPr id="4" name="Image 0" descr="line">    </p:cNvPr>
          <p:cNvPicPr>
            <a:picLocks noChangeAspect="1"/>
          </p:cNvPicPr>
          <p:nvPr/>
        </p:nvPicPr>
        <p:blipFill>
          <a:blip r:embed="rId1"/>
          <a:srcRect l="0" r="0" t="0" b="0"/>
          <a:stretch/>
        </p:blipFill>
        <p:spPr>
          <a:xfrm>
            <a:off x="812800" y="1889720"/>
            <a:ext cx="1016000" cy="50800"/>
          </a:xfrm>
          <a:prstGeom prst="rect">
            <a:avLst/>
          </a:prstGeom>
        </p:spPr>
      </p:pic>
      <p:sp>
        <p:nvSpPr>
          <p:cNvPr id="5" name="Text 2"/>
          <p:cNvSpPr/>
          <p:nvPr/>
        </p:nvSpPr>
        <p:spPr>
          <a:xfrm>
            <a:off x="812800" y="2194520"/>
            <a:ext cx="523240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11111"/>
                </a:solidFill>
                <a:latin typeface="DM Sans" pitchFamily="34" charset="0"/>
                <a:ea typeface="DM Sans" pitchFamily="34" charset="-122"/>
                <a:cs typeface="DM Sans" pitchFamily="34" charset="-120"/>
              </a:rPr>
              <a:t>Thunderstorms</a:t>
            </a:r>
            <a:r>
              <a:rPr lang="en-US" sz="1600" dirty="0">
                <a:solidFill>
                  <a:srgbClr val="111111"/>
                </a:solidFill>
                <a:latin typeface="DM Sans" pitchFamily="34" charset="0"/>
                <a:ea typeface="DM Sans" pitchFamily="34" charset="-122"/>
                <a:cs typeface="DM Sans" pitchFamily="34" charset="-120"/>
              </a:rPr>
              <a:t> make a day 3.9 to 5.2 times as likely to be disrupted at Frankfurt, Munich and Stuttgart.</a:t>
            </a:r>
            <a:endParaRPr lang="en-US" sz="1600" dirty="0"/>
          </a:p>
        </p:txBody>
      </p:sp>
      <p:pic>
        <p:nvPicPr>
          <p:cNvPr id="6" name="Image 1" descr="Heatmap of disruption risk ratio by weather condition and airport; thunderstorm ratios 3.9 at Frankfurt, 4.3 at Munich, 5.2 at Stuttgart; hatched cells rest on fewer than 10 disrupted days">    </p:cNvPr>
          <p:cNvPicPr>
            <a:picLocks noChangeAspect="1"/>
          </p:cNvPicPr>
          <p:nvPr/>
        </p:nvPicPr>
        <p:blipFill>
          <a:blip r:embed="rId2"/>
          <a:srcRect l="-10401" r="-10401" t="0" b="0"/>
          <a:stretch/>
        </p:blipFill>
        <p:spPr>
          <a:xfrm>
            <a:off x="812800" y="2865041"/>
            <a:ext cx="5080000" cy="3048000"/>
          </a:xfrm>
          <a:prstGeom prst="rect">
            <a:avLst/>
          </a:prstGeom>
        </p:spPr>
      </p:pic>
      <p:sp>
        <p:nvSpPr>
          <p:cNvPr id="7" name="Text 3"/>
          <p:cNvSpPr/>
          <p:nvPr/>
        </p:nvSpPr>
        <p:spPr>
          <a:xfrm>
            <a:off x="6299200" y="2194520"/>
            <a:ext cx="5232400" cy="59432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11111"/>
                </a:solidFill>
                <a:latin typeface="DM Sans" pitchFamily="34" charset="0"/>
                <a:ea typeface="DM Sans" pitchFamily="34" charset="-122"/>
                <a:cs typeface="DM Sans" pitchFamily="34" charset="-120"/>
              </a:rPr>
              <a:t>A busy day with two hazards</a:t>
            </a:r>
            <a:r>
              <a:rPr lang="en-US" sz="1600" dirty="0">
                <a:solidFill>
                  <a:srgbClr val="111111"/>
                </a:solidFill>
                <a:latin typeface="DM Sans" pitchFamily="34" charset="0"/>
                <a:ea typeface="DM Sans" pitchFamily="34" charset="-122"/>
                <a:cs typeface="DM Sans" pitchFamily="34" charset="-120"/>
              </a:rPr>
              <a:t> is disrupted 25.7% of the time. A quiet, calm day: 0.5%.</a:t>
            </a:r>
            <a:endParaRPr lang="en-US" sz="1600" dirty="0"/>
          </a:p>
        </p:txBody>
      </p:sp>
      <p:pic>
        <p:nvPicPr>
          <p:cNvPr id="8" name="Image 2" descr="Heatmap of disruption rate by traffic pressure and weather severity; peak 25.7% on high-traffic days (100-120% of the airport's median over 2014-2025) with two adverse weather conditions; hatched cells have fewer than 50 days">    </p:cNvPr>
          <p:cNvPicPr>
            <a:picLocks noChangeAspect="1"/>
          </p:cNvPicPr>
          <p:nvPr/>
        </p:nvPicPr>
        <p:blipFill>
          <a:blip r:embed="rId3"/>
          <a:srcRect l="-7432" r="-7432" t="0" b="0"/>
          <a:stretch/>
        </p:blipFill>
        <p:spPr>
          <a:xfrm>
            <a:off x="6299200" y="2865041"/>
            <a:ext cx="5080000" cy="304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8F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F4FD8"/>
                </a:solidFill>
                <a:latin typeface="DM Sans" pitchFamily="34" charset="0"/>
                <a:ea typeface="DM Sans" pitchFamily="34" charset="-122"/>
                <a:cs typeface="DM Sans" pitchFamily="34" charset="-120"/>
              </a:rPr>
              <a:t>CREW</a:t>
            </a:r>
            <a:endParaRPr lang="en-US" sz="1200" dirty="0"/>
          </a:p>
        </p:txBody>
      </p:sp>
      <p:sp>
        <p:nvSpPr>
          <p:cNvPr id="3" name="Text 1"/>
          <p:cNvSpPr/>
          <p:nvPr>
            <p:ph type="title"/>
          </p:nvPr>
        </p:nvSpPr>
        <p:spPr>
          <a:xfrm>
            <a:off x="812800" y="1178520"/>
            <a:ext cx="10883392" cy="584200"/>
          </a:xfrm>
          <a:prstGeom prst="rect">
            <a:avLst/>
          </a:prstGeom>
          <a:noFill/>
          <a:ln/>
        </p:spPr>
        <p:txBody>
          <a:bodyPr wrap="square" lIns="0" tIns="0" rIns="0" bIns="0" rtlCol="0" anchor="t">
            <a:normAutofit/>
          </a:bodyPr>
          <a:lstStyle/>
          <a:p>
            <a:pPr algn="l" indent="0" marL="0">
              <a:lnSpc>
                <a:spcPts val="4400"/>
              </a:lnSpc>
              <a:buNone/>
            </a:pPr>
            <a:r>
              <a:rPr lang="en-US" sz="4400" b="0" i="0" spc="50" kern="0" dirty="0">
                <a:solidFill>
                  <a:srgbClr val="111111"/>
                </a:solidFill>
                <a:latin typeface="Oswald" pitchFamily="34" charset="0"/>
                <a:ea typeface="Oswald" pitchFamily="34" charset="-122"/>
                <a:cs typeface="Oswald" pitchFamily="34" charset="-120"/>
              </a:rPr>
              <a:t>WHO DID WHAT</a:t>
            </a:r>
            <a:endParaRPr lang="en-US" sz="4400" dirty="0"/>
          </a:p>
        </p:txBody>
      </p:sp>
      <p:pic>
        <p:nvPicPr>
          <p:cNvPr id="4" name="Image 0" descr="line">    </p:cNvPr>
          <p:cNvPicPr>
            <a:picLocks noChangeAspect="1"/>
          </p:cNvPicPr>
          <p:nvPr/>
        </p:nvPicPr>
        <p:blipFill>
          <a:blip r:embed="rId1"/>
          <a:srcRect l="0" r="0" t="0" b="0"/>
          <a:stretch/>
        </p:blipFill>
        <p:spPr>
          <a:xfrm>
            <a:off x="812800" y="1889720"/>
            <a:ext cx="1016000" cy="50800"/>
          </a:xfrm>
          <a:prstGeom prst="rect">
            <a:avLst/>
          </a:prstGeom>
        </p:spPr>
      </p:pic>
      <p:sp>
        <p:nvSpPr>
          <p:cNvPr id="5" name="Shape 2"/>
          <p:cNvSpPr/>
          <p:nvPr/>
        </p:nvSpPr>
        <p:spPr>
          <a:xfrm>
            <a:off x="812800" y="2626370"/>
            <a:ext cx="10566400" cy="0"/>
          </a:xfrm>
          <a:prstGeom prst="line">
            <a:avLst/>
          </a:prstGeom>
          <a:noFill/>
          <a:ln w="6350">
            <a:solidFill>
              <a:srgbClr val="D9D8D2"/>
            </a:solidFill>
            <a:prstDash val="solid"/>
          </a:ln>
        </p:spPr>
      </p:sp>
      <p:sp>
        <p:nvSpPr>
          <p:cNvPr id="6" name="Text 3"/>
          <p:cNvSpPr/>
          <p:nvPr/>
        </p:nvSpPr>
        <p:spPr>
          <a:xfrm>
            <a:off x="812800" y="2832745"/>
            <a:ext cx="320484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5E5A"/>
                </a:solidFill>
                <a:latin typeface="DM Sans" pitchFamily="34" charset="0"/>
                <a:ea typeface="DM Sans" pitchFamily="34" charset="-122"/>
                <a:cs typeface="DM Sans" pitchFamily="34" charset="-120"/>
              </a:rPr>
              <a:t>CREW 01</a:t>
            </a:r>
            <a:endParaRPr lang="en-US" sz="1200" dirty="0"/>
          </a:p>
        </p:txBody>
      </p:sp>
      <p:sp>
        <p:nvSpPr>
          <p:cNvPr id="7" name="Text 4"/>
          <p:cNvSpPr/>
          <p:nvPr/>
        </p:nvSpPr>
        <p:spPr>
          <a:xfrm>
            <a:off x="812800" y="3198465"/>
            <a:ext cx="3204845"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11111"/>
                </a:solidFill>
                <a:latin typeface="Oswald" pitchFamily="34" charset="0"/>
                <a:ea typeface="Oswald" pitchFamily="34" charset="-122"/>
                <a:cs typeface="Oswald" pitchFamily="34" charset="-120"/>
              </a:rPr>
              <a:t>Siddharth Jain</a:t>
            </a:r>
            <a:endParaRPr lang="en-US" sz="2400" dirty="0"/>
          </a:p>
        </p:txBody>
      </p:sp>
      <p:sp>
        <p:nvSpPr>
          <p:cNvPr id="8" name="Text 5"/>
          <p:cNvSpPr/>
          <p:nvPr/>
        </p:nvSpPr>
        <p:spPr>
          <a:xfrm>
            <a:off x="876808" y="3655665"/>
            <a:ext cx="3133217" cy="12446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5F5E5A"/>
                </a:solidFill>
                <a:latin typeface="DM Sans" pitchFamily="34" charset="0"/>
                <a:ea typeface="DM Sans" pitchFamily="34" charset="-122"/>
                <a:cs typeface="DM Sans" pitchFamily="34" charset="-120"/>
              </a:rPr>
              <a:t>Data engineering: sources, pipeline, airport-day table</a:t>
            </a:r>
            <a:endParaRPr lang="en-US" sz="1600" dirty="0"/>
          </a:p>
          <a:p>
            <a:pPr algn="l" marL="189992" indent="-189992">
              <a:lnSpc>
                <a:spcPts val="2400"/>
              </a:lnSpc>
              <a:buSzPct val="100000"/>
              <a:buChar char="•"/>
            </a:pPr>
            <a:r>
              <a:rPr lang="en-US" sz="1600" dirty="0">
                <a:solidFill>
                  <a:srgbClr val="5F5E5A"/>
                </a:solidFill>
                <a:latin typeface="DM Sans" pitchFamily="34" charset="0"/>
                <a:ea typeface="DM Sans" pitchFamily="34" charset="-122"/>
                <a:cs typeface="DM Sans" pitchFamily="34" charset="-120"/>
              </a:rPr>
              <a:t>LightGBM classifier and LightGBM regressor</a:t>
            </a:r>
            <a:endParaRPr lang="en-US" sz="1600" dirty="0"/>
          </a:p>
        </p:txBody>
      </p:sp>
      <p:sp>
        <p:nvSpPr>
          <p:cNvPr id="9" name="Shape 6"/>
          <p:cNvSpPr/>
          <p:nvPr/>
        </p:nvSpPr>
        <p:spPr>
          <a:xfrm>
            <a:off x="4232275" y="2629545"/>
            <a:ext cx="0" cy="2245320"/>
          </a:xfrm>
          <a:prstGeom prst="line">
            <a:avLst/>
          </a:prstGeom>
          <a:noFill/>
          <a:ln w="6350">
            <a:solidFill>
              <a:srgbClr val="D9D8D2"/>
            </a:solidFill>
            <a:prstDash val="solid"/>
          </a:ln>
        </p:spPr>
      </p:sp>
      <p:sp>
        <p:nvSpPr>
          <p:cNvPr id="10" name="Text 7"/>
          <p:cNvSpPr/>
          <p:nvPr/>
        </p:nvSpPr>
        <p:spPr>
          <a:xfrm>
            <a:off x="4540250" y="2832745"/>
            <a:ext cx="320484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5E5A"/>
                </a:solidFill>
                <a:latin typeface="DM Sans" pitchFamily="34" charset="0"/>
                <a:ea typeface="DM Sans" pitchFamily="34" charset="-122"/>
                <a:cs typeface="DM Sans" pitchFamily="34" charset="-120"/>
              </a:rPr>
              <a:t>CREW 02</a:t>
            </a:r>
            <a:endParaRPr lang="en-US" sz="1200" dirty="0"/>
          </a:p>
        </p:txBody>
      </p:sp>
      <p:sp>
        <p:nvSpPr>
          <p:cNvPr id="11" name="Text 8"/>
          <p:cNvSpPr/>
          <p:nvPr/>
        </p:nvSpPr>
        <p:spPr>
          <a:xfrm>
            <a:off x="4540250" y="3198465"/>
            <a:ext cx="3204845"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11111"/>
                </a:solidFill>
                <a:latin typeface="Oswald" pitchFamily="34" charset="0"/>
                <a:ea typeface="Oswald" pitchFamily="34" charset="-122"/>
                <a:cs typeface="Oswald" pitchFamily="34" charset="-120"/>
              </a:rPr>
              <a:t>Manasvi Japi</a:t>
            </a:r>
            <a:endParaRPr lang="en-US" sz="2400" dirty="0"/>
          </a:p>
        </p:txBody>
      </p:sp>
      <p:sp>
        <p:nvSpPr>
          <p:cNvPr id="12" name="Text 9"/>
          <p:cNvSpPr/>
          <p:nvPr/>
        </p:nvSpPr>
        <p:spPr>
          <a:xfrm>
            <a:off x="4604258" y="3655665"/>
            <a:ext cx="3133217" cy="9398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5F5E5A"/>
                </a:solidFill>
                <a:latin typeface="DM Sans" pitchFamily="34" charset="0"/>
                <a:ea typeface="DM Sans" pitchFamily="34" charset="-122"/>
                <a:cs typeface="DM Sans" pitchFamily="34" charset="-120"/>
              </a:rPr>
              <a:t>Logistic regression and Ridge regression</a:t>
            </a:r>
            <a:endParaRPr lang="en-US" sz="1600" dirty="0"/>
          </a:p>
          <a:p>
            <a:pPr algn="l" marL="189992" indent="-189992">
              <a:lnSpc>
                <a:spcPts val="2400"/>
              </a:lnSpc>
              <a:buSzPct val="100000"/>
              <a:buChar char="•"/>
            </a:pPr>
            <a:r>
              <a:rPr lang="en-US" sz="1600" dirty="0">
                <a:solidFill>
                  <a:srgbClr val="5F5E5A"/>
                </a:solidFill>
                <a:latin typeface="DM Sans" pitchFamily="34" charset="0"/>
                <a:ea typeface="DM Sans" pitchFamily="34" charset="-122"/>
                <a:cs typeface="DM Sans" pitchFamily="34" charset="-120"/>
              </a:rPr>
              <a:t>Presentation</a:t>
            </a:r>
            <a:endParaRPr lang="en-US" sz="1600" dirty="0"/>
          </a:p>
        </p:txBody>
      </p:sp>
      <p:sp>
        <p:nvSpPr>
          <p:cNvPr id="13" name="Shape 10"/>
          <p:cNvSpPr/>
          <p:nvPr/>
        </p:nvSpPr>
        <p:spPr>
          <a:xfrm>
            <a:off x="7959725" y="2629545"/>
            <a:ext cx="0" cy="2245320"/>
          </a:xfrm>
          <a:prstGeom prst="line">
            <a:avLst/>
          </a:prstGeom>
          <a:noFill/>
          <a:ln w="6350">
            <a:solidFill>
              <a:srgbClr val="D9D8D2"/>
            </a:solidFill>
            <a:prstDash val="solid"/>
          </a:ln>
        </p:spPr>
      </p:sp>
      <p:sp>
        <p:nvSpPr>
          <p:cNvPr id="14" name="Text 11"/>
          <p:cNvSpPr/>
          <p:nvPr/>
        </p:nvSpPr>
        <p:spPr>
          <a:xfrm>
            <a:off x="8267700" y="2832745"/>
            <a:ext cx="320484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5F5E5A"/>
                </a:solidFill>
                <a:latin typeface="DM Sans" pitchFamily="34" charset="0"/>
                <a:ea typeface="DM Sans" pitchFamily="34" charset="-122"/>
                <a:cs typeface="DM Sans" pitchFamily="34" charset="-120"/>
              </a:rPr>
              <a:t>CREW 03</a:t>
            </a:r>
            <a:endParaRPr lang="en-US" sz="1200" dirty="0"/>
          </a:p>
        </p:txBody>
      </p:sp>
      <p:sp>
        <p:nvSpPr>
          <p:cNvPr id="15" name="Text 12"/>
          <p:cNvSpPr/>
          <p:nvPr/>
        </p:nvSpPr>
        <p:spPr>
          <a:xfrm>
            <a:off x="8267700" y="3198465"/>
            <a:ext cx="3204845" cy="330200"/>
          </a:xfrm>
          <a:prstGeom prst="rect">
            <a:avLst/>
          </a:prstGeom>
          <a:noFill/>
          <a:ln/>
        </p:spPr>
        <p:txBody>
          <a:bodyPr wrap="square" lIns="0" tIns="0" rIns="0" bIns="0" rtlCol="0" anchor="t">
            <a:normAutofit/>
          </a:bodyPr>
          <a:lstStyle/>
          <a:p>
            <a:pPr algn="l" indent="0" marL="0">
              <a:lnSpc>
                <a:spcPts val="2400"/>
              </a:lnSpc>
              <a:buNone/>
            </a:pPr>
            <a:r>
              <a:rPr lang="en-US" sz="2400" dirty="0">
                <a:solidFill>
                  <a:srgbClr val="111111"/>
                </a:solidFill>
                <a:latin typeface="Oswald" pitchFamily="34" charset="0"/>
                <a:ea typeface="Oswald" pitchFamily="34" charset="-122"/>
                <a:cs typeface="Oswald" pitchFamily="34" charset="-120"/>
              </a:rPr>
              <a:t>Rong Qin</a:t>
            </a:r>
            <a:endParaRPr lang="en-US" sz="2400" dirty="0"/>
          </a:p>
        </p:txBody>
      </p:sp>
      <p:sp>
        <p:nvSpPr>
          <p:cNvPr id="16" name="Text 13"/>
          <p:cNvSpPr/>
          <p:nvPr/>
        </p:nvSpPr>
        <p:spPr>
          <a:xfrm>
            <a:off x="8331708" y="3655665"/>
            <a:ext cx="3133217" cy="939800"/>
          </a:xfrm>
          <a:prstGeom prst="rect">
            <a:avLst/>
          </a:prstGeom>
          <a:noFill/>
          <a:ln/>
        </p:spPr>
        <p:txBody>
          <a:bodyPr wrap="square" lIns="0" tIns="0" rIns="0" bIns="0" rtlCol="0" anchor="t">
            <a:normAutofit/>
          </a:bodyPr>
          <a:lstStyle/>
          <a:p>
            <a:pPr algn="l" marL="189992" indent="-189992">
              <a:lnSpc>
                <a:spcPts val="2400"/>
              </a:lnSpc>
              <a:buSzPct val="100000"/>
              <a:buChar char="•"/>
            </a:pPr>
            <a:r>
              <a:rPr lang="en-US" sz="1600" dirty="0">
                <a:solidFill>
                  <a:srgbClr val="5F5E5A"/>
                </a:solidFill>
                <a:latin typeface="DM Sans" pitchFamily="34" charset="0"/>
                <a:ea typeface="DM Sans" pitchFamily="34" charset="-122"/>
                <a:cs typeface="DM Sans" pitchFamily="34" charset="-120"/>
              </a:rPr>
              <a:t>BI analysis and KPIs</a:t>
            </a:r>
            <a:endParaRPr lang="en-US" sz="1600" dirty="0"/>
          </a:p>
          <a:p>
            <a:pPr algn="l" marL="189992" indent="-189992">
              <a:lnSpc>
                <a:spcPts val="2400"/>
              </a:lnSpc>
              <a:buSzPct val="100000"/>
              <a:buChar char="•"/>
            </a:pPr>
            <a:r>
              <a:rPr lang="en-US" sz="1600" dirty="0">
                <a:solidFill>
                  <a:srgbClr val="5F5E5A"/>
                </a:solidFill>
                <a:latin typeface="DM Sans" pitchFamily="34" charset="0"/>
                <a:ea typeface="DM Sans" pitchFamily="34" charset="-122"/>
                <a:cs typeface="DM Sans" pitchFamily="34" charset="-120"/>
              </a:rPr>
              <a:t>Micropublication</a:t>
            </a:r>
            <a:endParaRPr lang="en-US" sz="1600" dirty="0"/>
          </a:p>
          <a:p>
            <a:pPr algn="l" marL="189992" indent="-189992">
              <a:lnSpc>
                <a:spcPts val="2400"/>
              </a:lnSpc>
              <a:buSzPct val="100000"/>
              <a:buChar char="•"/>
            </a:pPr>
            <a:r>
              <a:rPr lang="en-US" sz="1600" dirty="0">
                <a:solidFill>
                  <a:srgbClr val="5F5E5A"/>
                </a:solidFill>
                <a:latin typeface="DM Sans" pitchFamily="34" charset="0"/>
                <a:ea typeface="DM Sans" pitchFamily="34" charset="-122"/>
                <a:cs typeface="DM Sans" pitchFamily="34" charset="-120"/>
              </a:rPr>
              <a:t>Presentation</a:t>
            </a:r>
            <a:endParaRPr lang="en-US" sz="1600" dirty="0"/>
          </a:p>
        </p:txBody>
      </p:sp>
      <p:sp>
        <p:nvSpPr>
          <p:cNvPr id="17" name="Text 14"/>
          <p:cNvSpPr/>
          <p:nvPr/>
        </p:nvSpPr>
        <p:spPr>
          <a:xfrm>
            <a:off x="812800" y="55575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F5E5A"/>
                </a:solidFill>
                <a:latin typeface="DM Sans" pitchFamily="34" charset="0"/>
                <a:ea typeface="DM Sans" pitchFamily="34" charset="-122"/>
                <a:cs typeface="DM Sans" pitchFamily="34" charset="-120"/>
              </a:rPr>
              <a:t>Code, data and paper: </a:t>
            </a:r>
            <a:r>
              <a:rPr lang="en-US" sz="1600" dirty="0">
                <a:solidFill>
                  <a:srgbClr val="1F4FD8"/>
                </a:solidFill>
                <a:latin typeface="DM Sans" pitchFamily="34" charset="0"/>
                <a:ea typeface="DM Sans" pitchFamily="34" charset="-122"/>
                <a:cs typeface="DM Sans" pitchFamily="34" charset="-120"/>
              </a:rPr>
              <a:t>github.com/sidnov6/german-airport-disruption</a:t>
            </a:r>
            <a:endParaRPr lang="en-US" sz="1600" dirty="0"/>
          </a:p>
        </p:txBody>
      </p:sp>
      <p:sp>
        <p:nvSpPr>
          <p:cNvPr id="18" name="Text 15"/>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5E5A"/>
                </a:solidFill>
                <a:latin typeface="DM Sans" pitchFamily="34" charset="0"/>
                <a:ea typeface="DM Sans" pitchFamily="34" charset="-122"/>
                <a:cs typeface="DM Sans" pitchFamily="34" charset="-120"/>
              </a:rPr>
              <a:t>MSc AI &amp; Data Science · Frankfurt School of Finance &amp; Management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3A9C"/>
        </a:solidFill>
      </p:bgPr>
    </p:bg>
    <p:spTree>
      <p:nvGrpSpPr>
        <p:cNvPr id="1" name=""/>
        <p:cNvGrpSpPr/>
        <p:nvPr/>
      </p:nvGrpSpPr>
      <p:grpSpPr>
        <a:xfrm>
          <a:off x="0" y="0"/>
          <a:ext cx="0" cy="0"/>
          <a:chOff x="0" y="0"/>
          <a:chExt cx="0" cy="0"/>
        </a:xfrm>
      </p:grpSpPr>
      <p:pic>
        <p:nvPicPr>
          <p:cNvPr id="2" name="Image 0" descr="">    </p:cNvPr>
          <p:cNvPicPr>
            <a:picLocks noChangeAspect="1"/>
          </p:cNvPicPr>
          <p:nvPr/>
        </p:nvPicPr>
        <p:blipFill>
          <a:blip r:embed="rId1"/>
          <a:srcRect l="0" r="0" t="34180" b="34180"/>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163A9C">
              <a:alpha val="88000"/>
            </a:srgbClr>
          </a:solidFill>
          <a:ln/>
        </p:spPr>
      </p:sp>
      <p:sp>
        <p:nvSpPr>
          <p:cNvPr id="4" name="Text 1"/>
          <p:cNvSpPr/>
          <p:nvPr/>
        </p:nvSpPr>
        <p:spPr>
          <a:xfrm>
            <a:off x="812800" y="255661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BCD0FF"/>
                </a:solidFill>
                <a:latin typeface="DM Sans" pitchFamily="34" charset="0"/>
                <a:ea typeface="DM Sans" pitchFamily="34" charset="-122"/>
                <a:cs typeface="DM Sans" pitchFamily="34" charset="-120"/>
              </a:rPr>
              <a:t>LANDED · ON TIME, FOR ONCE</a:t>
            </a:r>
            <a:endParaRPr lang="en-US" sz="1200" dirty="0"/>
          </a:p>
        </p:txBody>
      </p:sp>
      <p:sp>
        <p:nvSpPr>
          <p:cNvPr id="5" name="Text 2"/>
          <p:cNvSpPr/>
          <p:nvPr>
            <p:ph type="title"/>
          </p:nvPr>
        </p:nvSpPr>
        <p:spPr>
          <a:xfrm>
            <a:off x="812800" y="2973139"/>
            <a:ext cx="10883392" cy="1231900"/>
          </a:xfrm>
          <a:prstGeom prst="rect">
            <a:avLst/>
          </a:prstGeom>
          <a:noFill/>
          <a:ln/>
        </p:spPr>
        <p:txBody>
          <a:bodyPr wrap="square" lIns="0" tIns="0" rIns="0" bIns="0" rtlCol="0" anchor="t">
            <a:normAutofit/>
          </a:bodyPr>
          <a:lstStyle/>
          <a:p>
            <a:pPr algn="l" indent="0" marL="0">
              <a:lnSpc>
                <a:spcPts val="9500"/>
              </a:lnSpc>
              <a:buNone/>
            </a:pPr>
            <a:r>
              <a:rPr lang="en-US" sz="10000" b="0" i="0" spc="50" kern="0" dirty="0">
                <a:solidFill>
                  <a:srgbClr val="FFFFFF"/>
                </a:solidFill>
                <a:latin typeface="Oswald" pitchFamily="34" charset="0"/>
                <a:ea typeface="Oswald" pitchFamily="34" charset="-122"/>
                <a:cs typeface="Oswald" pitchFamily="34" charset="-120"/>
              </a:rPr>
              <a:t>DANKE &amp; PROST!</a:t>
            </a:r>
            <a:endParaRPr lang="en-US" sz="10000" dirty="0"/>
          </a:p>
        </p:txBody>
      </p:sp>
      <p:pic>
        <p:nvPicPr>
          <p:cNvPr id="6" name="Image 1" descr="line">    </p:cNvPr>
          <p:cNvPicPr>
            <a:picLocks noChangeAspect="1"/>
          </p:cNvPicPr>
          <p:nvPr/>
        </p:nvPicPr>
        <p:blipFill>
          <a:blip r:embed="rId2"/>
          <a:srcRect l="0" r="0" t="0" b="0"/>
          <a:stretch/>
        </p:blipFill>
        <p:spPr>
          <a:xfrm>
            <a:off x="812800" y="4382839"/>
            <a:ext cx="1016000" cy="50800"/>
          </a:xfrm>
          <a:prstGeom prst="rect">
            <a:avLst/>
          </a:prstGeom>
        </p:spPr>
      </p:pic>
      <p:sp>
        <p:nvSpPr>
          <p:cNvPr id="7" name="Text 3"/>
          <p:cNvSpPr/>
          <p:nvPr/>
        </p:nvSpPr>
        <p:spPr>
          <a:xfrm>
            <a:off x="812800" y="4636839"/>
            <a:ext cx="654050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D0FF"/>
                </a:solidFill>
                <a:latin typeface="DM Sans" pitchFamily="34" charset="0"/>
                <a:ea typeface="DM Sans" pitchFamily="34" charset="-122"/>
                <a:cs typeface="DM Sans" pitchFamily="34" charset="-120"/>
              </a:rPr>
              <a:t>Thank you and cheers. Please stay seated until the Q&amp;A sign is switched off.</a:t>
            </a:r>
            <a:endParaRPr lang="en-US" sz="1600" dirty="0"/>
          </a:p>
        </p:txBody>
      </p:sp>
      <p:sp>
        <p:nvSpPr>
          <p:cNvPr id="8" name="Shape 4"/>
          <p:cNvSpPr/>
          <p:nvPr/>
        </p:nvSpPr>
        <p:spPr>
          <a:xfrm>
            <a:off x="812800" y="5412135"/>
            <a:ext cx="7620000" cy="0"/>
          </a:xfrm>
          <a:prstGeom prst="line">
            <a:avLst/>
          </a:prstGeom>
          <a:noFill/>
          <a:ln w="6350">
            <a:solidFill>
              <a:srgbClr val="2F54B8"/>
            </a:solidFill>
            <a:prstDash val="solid"/>
          </a:ln>
        </p:spPr>
      </p:sp>
      <p:sp>
        <p:nvSpPr>
          <p:cNvPr id="9" name="Text 5"/>
          <p:cNvSpPr/>
          <p:nvPr/>
        </p:nvSpPr>
        <p:spPr>
          <a:xfrm>
            <a:off x="812800" y="5618510"/>
            <a:ext cx="1280993"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FFFFFF"/>
                </a:solidFill>
                <a:latin typeface="Oswald" pitchFamily="34" charset="0"/>
                <a:ea typeface="Oswald" pitchFamily="34" charset="-122"/>
                <a:cs typeface="Oswald" pitchFamily="34" charset="-120"/>
              </a:rPr>
              <a:t>FRAGEN?</a:t>
            </a:r>
            <a:endParaRPr lang="en-US" sz="2400" dirty="0"/>
          </a:p>
        </p:txBody>
      </p:sp>
      <p:sp>
        <p:nvSpPr>
          <p:cNvPr id="10" name="Text 6"/>
          <p:cNvSpPr/>
          <p:nvPr/>
        </p:nvSpPr>
        <p:spPr>
          <a:xfrm>
            <a:off x="2185095" y="5758210"/>
            <a:ext cx="5360849"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D0FF"/>
                </a:solidFill>
                <a:latin typeface="DM Sans" pitchFamily="34" charset="0"/>
                <a:ea typeface="DM Sans" pitchFamily="34" charset="-122"/>
                <a:cs typeface="DM Sans" pitchFamily="34" charset="-120"/>
              </a:rPr>
              <a:t>github.com/sidnov6/german-airport-disruption</a:t>
            </a:r>
            <a:endParaRPr lang="en-US" sz="1600" dirty="0"/>
          </a:p>
        </p:txBody>
      </p:sp>
    </p:spTree>
  </p:cSld>
  <p:clrMapOvr>
    <a:masterClrMapping/>
  </p:clrMapOvr>
</p:sld>
</file>

<file path=ppt/theme/theme1.xml><?xml version="1.0" encoding="utf-8"?>
<a:theme xmlns:a="http://schemas.openxmlformats.org/drawingml/2006/main" name="Airport Disruption in Germany">
  <a:themeElements>
    <a:clrScheme name="Airport Disruption in Germany">
      <a:dk1>
        <a:srgbClr val="111111"/>
      </a:dk1>
      <a:lt1>
        <a:srgbClr val="F8F8F6"/>
      </a:lt1>
      <a:dk2>
        <a:srgbClr val="4B4B4A"/>
      </a:dk2>
      <a:lt2>
        <a:srgbClr val="E1E1DF"/>
      </a:lt2>
      <a:accent1>
        <a:srgbClr val="1F4FD8"/>
      </a:accent1>
      <a:accent2>
        <a:srgbClr val="BCD0FF"/>
      </a:accent2>
      <a:accent3>
        <a:srgbClr val="163A9C"/>
      </a:accent3>
      <a:accent4>
        <a:srgbClr val="5F5E5A"/>
      </a:accent4>
      <a:accent5>
        <a:srgbClr val="0F1B33"/>
      </a:accent5>
      <a:accent6>
        <a:srgbClr val="9AA0A6"/>
      </a:accent6>
      <a:hlink>
        <a:srgbClr val="0563C1"/>
      </a:hlink>
      <a:folHlink>
        <a:srgbClr val="954F72"/>
      </a:folHlink>
    </a:clrScheme>
    <a:fontScheme name="Airport Disruption in Germany">
      <a:majorFont>
        <a:latin typeface="Oswa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Airport Disruption in Germany</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Oswald
Copyright 2016 The Oswald Project Authors (https://github.com/googlefonts/OswaldFont)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2026-10-29T09:41:58Z</dcterms:created>
  <dcterms:modified xsi:type="dcterms:W3CDTF">2026-10-29T09:41:58Z</dcterms:modified>
</cp:coreProperties>
</file>